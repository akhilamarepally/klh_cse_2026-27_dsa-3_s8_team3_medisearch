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sra Gandla" userId="5a2aafd5d30afc2b" providerId="LiveId" clId="{25DD5ABE-8A3C-4C82-AAD5-560E404CE185}"/>
    <pc:docChg chg="modSld">
      <pc:chgData name="Sahasra Gandla" userId="5a2aafd5d30afc2b" providerId="LiveId" clId="{25DD5ABE-8A3C-4C82-AAD5-560E404CE185}" dt="2026-08-27T06:59:55.518" v="22" actId="14100"/>
      <pc:docMkLst>
        <pc:docMk/>
      </pc:docMkLst>
      <pc:sldChg chg="modSp mod">
        <pc:chgData name="Sahasra Gandla" userId="5a2aafd5d30afc2b" providerId="LiveId" clId="{25DD5ABE-8A3C-4C82-AAD5-560E404CE185}" dt="2026-08-27T06:59:55.518" v="22" actId="14100"/>
        <pc:sldMkLst>
          <pc:docMk/>
          <pc:sldMk cId="0" sldId="261"/>
        </pc:sldMkLst>
        <pc:spChg chg="mod">
          <ac:chgData name="Sahasra Gandla" userId="5a2aafd5d30afc2b" providerId="LiveId" clId="{25DD5ABE-8A3C-4C82-AAD5-560E404CE185}" dt="2026-08-27T06:59:55.518" v="22" actId="14100"/>
          <ac:spMkLst>
            <pc:docMk/>
            <pc:sldMk cId="0" sldId="261"/>
            <ac:spMk id="14" creationId="{00000000-0000-0000-0000-000000000000}"/>
          </ac:spMkLst>
        </pc:spChg>
      </pc:sldChg>
      <pc:sldChg chg="modSp mod">
        <pc:chgData name="Sahasra Gandla" userId="5a2aafd5d30afc2b" providerId="LiveId" clId="{25DD5ABE-8A3C-4C82-AAD5-560E404CE185}" dt="2026-08-26T17:43:58.499" v="21" actId="20577"/>
        <pc:sldMkLst>
          <pc:docMk/>
          <pc:sldMk cId="0" sldId="262"/>
        </pc:sldMkLst>
        <pc:spChg chg="mod">
          <ac:chgData name="Sahasra Gandla" userId="5a2aafd5d30afc2b" providerId="LiveId" clId="{25DD5ABE-8A3C-4C82-AAD5-560E404CE185}" dt="2026-08-26T17:43:58.499" v="21" actId="20577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554480"/>
            <a:ext cx="107899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MediSearch – Review 2</a:t>
            </a:r>
          </a:p>
          <a:p>
            <a:pPr>
              <a:defRPr sz="2300">
                <a:solidFill>
                  <a:srgbClr val="232830"/>
                </a:solidFill>
              </a:defRPr>
            </a:pPr>
            <a:r>
              <a:t>Design Aspects, Pattern Matching &amp; Fuzzy Matching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3200400"/>
            <a:ext cx="3383280" cy="822960"/>
          </a:xfrm>
          <a:prstGeom prst="roundRect">
            <a:avLst/>
          </a:prstGeom>
          <a:solidFill>
            <a:srgbClr val="EBF4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232830"/>
                </a:solidFill>
              </a:defRPr>
            </a:pPr>
            <a:r>
              <a:t>DSA-3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Design Aspects – System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28800"/>
            <a:ext cx="1691640" cy="731520"/>
          </a:xfrm>
          <a:prstGeom prst="roundRect">
            <a:avLst/>
          </a:prstGeom>
          <a:solidFill>
            <a:srgbClr val="EBF4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30"/>
                </a:solidFill>
              </a:defRPr>
            </a:pPr>
            <a:r>
              <a:t>Start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03120" y="2194560"/>
            <a:ext cx="301752" cy="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04872" y="1828800"/>
            <a:ext cx="1691640" cy="731520"/>
          </a:xfrm>
          <a:prstGeom prst="roundRect">
            <a:avLst/>
          </a:prstGeom>
          <a:solidFill>
            <a:srgbClr val="EBF4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30"/>
                </a:solidFill>
              </a:defRPr>
            </a:pPr>
            <a:r>
              <a:t>Enter Search Query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096512" y="2194560"/>
            <a:ext cx="301752" cy="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398264" y="1828800"/>
            <a:ext cx="1691640" cy="731520"/>
          </a:xfrm>
          <a:prstGeom prst="roundRect">
            <a:avLst/>
          </a:prstGeom>
          <a:solidFill>
            <a:srgbClr val="EBF4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30"/>
                </a:solidFill>
              </a:defRPr>
            </a:pPr>
            <a:r>
              <a:t>Identify Query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9904" y="2194560"/>
            <a:ext cx="301752" cy="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91656" y="1828800"/>
            <a:ext cx="1691640" cy="731520"/>
          </a:xfrm>
          <a:prstGeom prst="roundRect">
            <a:avLst/>
          </a:prstGeom>
          <a:solidFill>
            <a:srgbClr val="EBF4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30"/>
                </a:solidFill>
              </a:defRPr>
            </a:pPr>
            <a:r>
              <a:t>Select DSA Method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83296" y="2194560"/>
            <a:ext cx="301752" cy="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385048" y="1828800"/>
            <a:ext cx="1691640" cy="731520"/>
          </a:xfrm>
          <a:prstGeom prst="roundRect">
            <a:avLst/>
          </a:prstGeom>
          <a:solidFill>
            <a:srgbClr val="EBF4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30"/>
                </a:solidFill>
              </a:defRPr>
            </a:pPr>
            <a:r>
              <a:t>Process Query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76688" y="2194560"/>
            <a:ext cx="301752" cy="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378440" y="1828800"/>
            <a:ext cx="1691640" cy="731520"/>
          </a:xfrm>
          <a:prstGeom prst="roundRect">
            <a:avLst/>
          </a:prstGeom>
          <a:solidFill>
            <a:srgbClr val="EBF4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30"/>
                </a:solidFill>
              </a:defRPr>
            </a:pPr>
            <a:r>
              <a:t>Display Results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3657600"/>
            <a:ext cx="2286000" cy="822960"/>
          </a:xfrm>
          <a:prstGeom prst="roundRect">
            <a:avLst/>
          </a:prstGeom>
          <a:solidFill>
            <a:srgbClr val="F0FAF4"/>
          </a:solidFill>
          <a:ln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30"/>
                </a:solidFill>
              </a:defRPr>
            </a:pPr>
            <a:r>
              <a:t>Patient ID</a:t>
            </a:r>
            <a:br/>
            <a:r>
              <a:t>→ HashMap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3657600"/>
            <a:ext cx="2286000" cy="822960"/>
          </a:xfrm>
          <a:prstGeom prst="roundRect">
            <a:avLst/>
          </a:prstGeom>
          <a:solidFill>
            <a:srgbClr val="EBF4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30"/>
                </a:solidFill>
              </a:defRPr>
            </a:pPr>
            <a:r>
              <a:t>Text Query</a:t>
            </a:r>
            <a:br/>
            <a:r>
              <a:t>→ KMP / Trie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657600"/>
            <a:ext cx="2468880" cy="822960"/>
          </a:xfrm>
          <a:prstGeom prst="roundRect">
            <a:avLst/>
          </a:prstGeom>
          <a:solidFill>
            <a:srgbClr val="FFF4F4"/>
          </a:solidFill>
          <a:ln>
            <a:solidFill>
              <a:srgbClr val="B4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30"/>
                </a:solidFill>
              </a:defRPr>
            </a:pPr>
            <a:r>
              <a:t>No Exact Match</a:t>
            </a:r>
            <a:br/>
            <a:r>
              <a:t>→ Fuzzy 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8348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</a:defRPr>
            </a:pPr>
            <a:r>
              <a:t>The flowchart shows how a search query is processed and which DSA technique is used at each stage.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Pattern Matching – KMP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383280" cy="1143000"/>
          </a:xfrm>
          <a:prstGeom prst="roundRect">
            <a:avLst/>
          </a:prstGeom>
          <a:solidFill>
            <a:srgbClr val="EBF4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830"/>
                </a:solidFill>
              </a:defRPr>
            </a:pPr>
            <a:r>
              <a:t>Text</a:t>
            </a:r>
            <a:br/>
            <a:r>
              <a:t>ABABDABACDABABCABAB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25880"/>
            <a:ext cx="2743200" cy="1143000"/>
          </a:xfrm>
          <a:prstGeom prst="roundRect">
            <a:avLst/>
          </a:prstGeom>
          <a:solidFill>
            <a:srgbClr val="F0FAF4"/>
          </a:solidFill>
          <a:ln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830"/>
                </a:solidFill>
              </a:defRPr>
            </a:pPr>
            <a:r>
              <a:t>Pattern</a:t>
            </a:r>
            <a:br/>
            <a:r>
              <a:t>ABABCABAB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43800" y="1325880"/>
            <a:ext cx="3977639" cy="1143000"/>
          </a:xfrm>
          <a:prstGeom prst="roundRect">
            <a:avLst/>
          </a:prstGeom>
          <a:solidFill>
            <a:srgbClr val="FFF4F4"/>
          </a:solidFill>
          <a:ln>
            <a:solidFill>
              <a:srgbClr val="B4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30"/>
                </a:solidFill>
              </a:defRPr>
            </a:pPr>
            <a:r>
              <a:t>LPS Array</a:t>
            </a:r>
            <a:br/>
            <a:r>
              <a:t>0  0  1  2  0  1  2  3  4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10515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</a:defRPr>
            </a:pPr>
            <a:r>
              <a:t>1. KMP preprocesses the pattern and constructs the LPS (Longest Prefix Suffix) array.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</a:defRPr>
            </a:pPr>
            <a:r>
              <a:t>2. The text and pattern are compared character by character.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</a:defRPr>
            </a:pPr>
            <a:r>
              <a:t>3. When a mismatch occurs, LPS tells KMP where to continue instead of restarting from the beginning.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</a:defRPr>
            </a:pPr>
            <a:r>
              <a:t>4. For this example, the pattern is found starting at index 10.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</a:defRPr>
            </a:pPr>
            <a:r>
              <a:t>Time Complexity: O(n + m).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KMP – Execution in MediSearch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554480"/>
            <a:ext cx="3383280" cy="1051560"/>
          </a:xfrm>
          <a:prstGeom prst="roundRect">
            <a:avLst/>
          </a:prstGeom>
          <a:solidFill>
            <a:srgbClr val="EBF4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30"/>
                </a:solidFill>
              </a:defRPr>
            </a:pPr>
            <a:r>
              <a:t>Patient Record</a:t>
            </a:r>
            <a:br/>
            <a:r>
              <a:t>"Patient has Diabetes Mellitus"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069080" y="2057400"/>
            <a:ext cx="731520" cy="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846320" y="1554480"/>
            <a:ext cx="2286000" cy="1051560"/>
          </a:xfrm>
          <a:prstGeom prst="roundRect">
            <a:avLst/>
          </a:prstGeom>
          <a:solidFill>
            <a:srgbClr val="F0FAF4"/>
          </a:solidFill>
          <a:ln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30"/>
                </a:solidFill>
              </a:defRPr>
            </a:pPr>
            <a:r>
              <a:t>Search Pattern</a:t>
            </a:r>
            <a:br/>
            <a:r>
              <a:t>"Diabetes"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989320" y="2651760"/>
            <a:ext cx="0" cy="73152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709160" y="3383280"/>
            <a:ext cx="2560320" cy="960120"/>
          </a:xfrm>
          <a:prstGeom prst="roundRect">
            <a:avLst/>
          </a:prstGeom>
          <a:solidFill>
            <a:srgbClr val="FFF4F4"/>
          </a:solidFill>
          <a:ln>
            <a:solidFill>
              <a:srgbClr val="B4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30"/>
                </a:solidFill>
              </a:defRPr>
            </a:pPr>
            <a:r>
              <a:t>KMP</a:t>
            </a:r>
            <a:br/>
            <a:r>
              <a:t>Pattern Matching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89320" y="4389120"/>
            <a:ext cx="0" cy="68580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09160" y="5074920"/>
            <a:ext cx="2560320" cy="777240"/>
          </a:xfrm>
          <a:prstGeom prst="roundRect">
            <a:avLst/>
          </a:prstGeom>
          <a:solidFill>
            <a:srgbClr val="F0FAF4"/>
          </a:solidFill>
          <a:ln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830"/>
                </a:solidFill>
              </a:defRPr>
            </a:pPr>
            <a:r>
              <a:t>Pattern Found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828800"/>
            <a:ext cx="37490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</a:defRPr>
            </a:pPr>
            <a:r>
              <a:t>KMP can search disease names, symptoms, medicines, or diagnosis terms inside patient records.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</a:defRPr>
            </a:pPr>
            <a:r>
              <a:t>The matching patient records are then displayed to the user.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Fuzzy Matching – Edit Distance Execution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417320"/>
            <a:ext cx="2286000" cy="914400"/>
          </a:xfrm>
          <a:prstGeom prst="roundRect">
            <a:avLst/>
          </a:prstGeom>
          <a:solidFill>
            <a:srgbClr val="EBF4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830"/>
                </a:solidFill>
              </a:defRPr>
            </a:pPr>
            <a:r>
              <a:t>User Input</a:t>
            </a:r>
            <a:br/>
            <a:r>
              <a:t>"Diabets"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26080" y="1874519"/>
            <a:ext cx="731520" cy="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703320" y="1417320"/>
            <a:ext cx="2103120" cy="914400"/>
          </a:xfrm>
          <a:prstGeom prst="roundRect">
            <a:avLst/>
          </a:prstGeom>
          <a:solidFill>
            <a:srgbClr val="FFF4F4"/>
          </a:solidFill>
          <a:ln>
            <a:solidFill>
              <a:srgbClr val="B4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30"/>
                </a:solidFill>
              </a:defRPr>
            </a:pPr>
            <a:r>
              <a:t>No Exact Match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06440" y="1874519"/>
            <a:ext cx="731520" cy="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583680" y="1417320"/>
            <a:ext cx="2103120" cy="914400"/>
          </a:xfrm>
          <a:prstGeom prst="roundRect">
            <a:avLst/>
          </a:prstGeom>
          <a:solidFill>
            <a:srgbClr val="EBF4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30"/>
                </a:solidFill>
              </a:defRPr>
            </a:pPr>
            <a:r>
              <a:t>Edit Distance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86800" y="1874519"/>
            <a:ext cx="685800" cy="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418320" y="1417320"/>
            <a:ext cx="2103120" cy="914400"/>
          </a:xfrm>
          <a:prstGeom prst="roundRect">
            <a:avLst/>
          </a:prstGeom>
          <a:solidFill>
            <a:srgbClr val="F0FAF4"/>
          </a:solidFill>
          <a:ln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232830"/>
                </a:solidFill>
              </a:defRPr>
            </a:pPr>
            <a:r>
              <a:t>Compare</a:t>
            </a:r>
            <a:br/>
            <a:r>
              <a:t>"Diabetes"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3063240"/>
            <a:ext cx="3657600" cy="1417320"/>
          </a:xfrm>
          <a:prstGeom prst="roundRect">
            <a:avLst/>
          </a:prstGeom>
          <a:solidFill>
            <a:srgbClr val="EBF4FC"/>
          </a:solidFill>
          <a:ln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32830"/>
                </a:solidFill>
              </a:defRPr>
            </a:pPr>
            <a:r>
              <a:t>Minimum edits = 1</a:t>
            </a:r>
            <a:br/>
            <a:r>
              <a:t>One insertion changes</a:t>
            </a:r>
            <a:br/>
            <a:r>
              <a:t>Diabets → Diabetes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80" y="3063240"/>
            <a:ext cx="3931920" cy="1417320"/>
          </a:xfrm>
          <a:prstGeom prst="roundRect">
            <a:avLst/>
          </a:prstGeom>
          <a:solidFill>
            <a:srgbClr val="F0FAF4"/>
          </a:solidFill>
          <a:ln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900" b="1">
                <a:solidFill>
                  <a:srgbClr val="232830"/>
                </a:solidFill>
              </a:defRPr>
            </a:pPr>
            <a:r>
              <a:t>Output</a:t>
            </a:r>
            <a:br/>
            <a:r>
              <a:t>Did you mean "Diabetes"?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920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</a:defRPr>
            </a:pPr>
            <a:r>
              <a:t>Edit Distance uses Dynamic Programming.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</a:defRPr>
            </a:pPr>
            <a:r>
              <a:t>It counts insertions, deletions, and substitutions needed to transform one string into another.</a:t>
            </a:r>
          </a:p>
          <a:p>
            <a:pPr>
              <a:spcAft>
                <a:spcPts val="1200"/>
              </a:spcAft>
              <a:defRPr sz="1600">
                <a:solidFill>
                  <a:srgbClr val="232830"/>
                </a:solidFill>
              </a:defRPr>
            </a:pPr>
            <a:r>
              <a:t>Here the distance is 1, so the terms are treated as similar.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MediSearch – Algorithm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011680"/>
            <a:ext cx="1783080" cy="960120"/>
          </a:xfrm>
          <a:prstGeom prst="roundRect">
            <a:avLst/>
          </a:prstGeom>
          <a:solidFill>
            <a:srgbClr val="EBF4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2830"/>
                </a:solidFill>
              </a:defRPr>
            </a:pPr>
            <a:r>
              <a:t>User Query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94560" y="2487168"/>
            <a:ext cx="274320" cy="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468880" y="2011680"/>
            <a:ext cx="1783080" cy="960120"/>
          </a:xfrm>
          <a:prstGeom prst="roundRect">
            <a:avLst/>
          </a:prstGeom>
          <a:solidFill>
            <a:srgbClr val="EBF4FC"/>
          </a:solidFill>
          <a:ln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2830"/>
                </a:solidFill>
              </a:defRPr>
            </a:pPr>
            <a:r>
              <a:rPr dirty="0"/>
              <a:t>Trie</a:t>
            </a:r>
            <a:br>
              <a:rPr dirty="0"/>
            </a:br>
            <a:r>
              <a:rPr dirty="0"/>
              <a:t>Autocomplete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51960" y="2487168"/>
            <a:ext cx="274320" cy="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26280" y="2011680"/>
            <a:ext cx="1783080" cy="960120"/>
          </a:xfrm>
          <a:prstGeom prst="roundRect">
            <a:avLst/>
          </a:prstGeom>
          <a:solidFill>
            <a:srgbClr val="EBF4FC"/>
          </a:solidFill>
          <a:ln>
            <a:solidFill>
              <a:srgbClr val="B4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2830"/>
                </a:solidFill>
              </a:defRPr>
            </a:pPr>
            <a:r>
              <a:t>KMP</a:t>
            </a:r>
            <a:br/>
            <a:r>
              <a:t>Pattern Matching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09360" y="2487168"/>
            <a:ext cx="274320" cy="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83680" y="2011680"/>
            <a:ext cx="1783080" cy="960120"/>
          </a:xfrm>
          <a:prstGeom prst="roundRect">
            <a:avLst/>
          </a:prstGeom>
          <a:solidFill>
            <a:srgbClr val="EBF4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2830"/>
                </a:solidFill>
              </a:defRPr>
            </a:pPr>
            <a:r>
              <a:t>Edit Distance</a:t>
            </a:r>
            <a:br/>
            <a:r>
              <a:t>Fuzzy Match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366760" y="2487168"/>
            <a:ext cx="274320" cy="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41080" y="2011680"/>
            <a:ext cx="1783080" cy="960120"/>
          </a:xfrm>
          <a:prstGeom prst="roundRect">
            <a:avLst/>
          </a:prstGeom>
          <a:solidFill>
            <a:srgbClr val="EBF4FC"/>
          </a:solidFill>
          <a:ln>
            <a:solidFill>
              <a:srgbClr val="2E7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2830"/>
                </a:solidFill>
              </a:defRPr>
            </a:pPr>
            <a:r>
              <a:t>HashMap</a:t>
            </a:r>
            <a:br/>
            <a:r>
              <a:t>Patient Lookup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424159" y="2487168"/>
            <a:ext cx="274321" cy="0"/>
          </a:xfrm>
          <a:prstGeom prst="line">
            <a:avLst/>
          </a:prstGeom>
          <a:ln w="25400">
            <a:solidFill>
              <a:srgbClr val="69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698480" y="2011680"/>
            <a:ext cx="1493215" cy="960120"/>
          </a:xfrm>
          <a:prstGeom prst="roundRect">
            <a:avLst/>
          </a:prstGeom>
          <a:solidFill>
            <a:srgbClr val="EBF4FC"/>
          </a:solidFill>
          <a:ln>
            <a:solidFill>
              <a:srgbClr val="B4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2830"/>
                </a:solidFill>
              </a:defRPr>
            </a:pPr>
            <a:r>
              <a:t>Final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10241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</a:defRPr>
            </a:pPr>
            <a:r>
              <a:t>Trie helps suggest possible search terms.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</a:defRPr>
            </a:pPr>
            <a:r>
              <a:t>KMP finds exact patterns in patient records.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</a:defRPr>
            </a:pPr>
            <a:r>
              <a:t>Edit Distance handles misspelled or slightly different queries.</a:t>
            </a:r>
          </a:p>
          <a:p>
            <a:pPr>
              <a:spcAft>
                <a:spcPts val="1200"/>
              </a:spcAft>
              <a:defRPr sz="1700">
                <a:solidFill>
                  <a:srgbClr val="232830"/>
                </a:solidFill>
              </a:defRPr>
            </a:pPr>
            <a:r>
              <a:t>HashMap provides fast lookup when the Patient ID is known.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68988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Flowchart: shows the complete search process.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KMP execution: demonstrates pattern searching using LPS and gives the match position.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Fuzzy matching execution: demonstrates Edit Distance using a misspelled query such as 'Diabets'.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Project connection: KMP searches medical text, while fuzzy matching improves the user's search when the query is incorrect.</a:t>
            </a:r>
          </a:p>
          <a:p>
            <a:pPr>
              <a:spcAft>
                <a:spcPts val="1200"/>
              </a:spcAft>
              <a:defRPr sz="2000">
                <a:solidFill>
                  <a:srgbClr val="232830"/>
                </a:solidFill>
              </a:defRPr>
            </a:pPr>
            <a:r>
              <a:t>These demonstrations show where the DSA concepts are applied in MediSearch.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430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Sahasra Gandla</cp:lastModifiedBy>
  <cp:revision>1</cp:revision>
  <dcterms:created xsi:type="dcterms:W3CDTF">2013-01-27T09:14:16Z</dcterms:created>
  <dcterms:modified xsi:type="dcterms:W3CDTF">2026-08-27T06:59:59Z</dcterms:modified>
  <cp:category/>
</cp:coreProperties>
</file>