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0" d="100"/>
          <a:sy n="70" d="100"/>
        </p:scale>
        <p:origin x="512"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hasra Gandla" userId="5a2aafd5d30afc2b" providerId="LiveId" clId="{25DD5ABE-8A3C-4C82-AAD5-560E404CE185}"/>
    <pc:docChg chg="modSld">
      <pc:chgData name="Sahasra Gandla" userId="5a2aafd5d30afc2b" providerId="LiveId" clId="{25DD5ABE-8A3C-4C82-AAD5-560E404CE185}" dt="2026-08-26T17:43:42.339" v="23" actId="20577"/>
      <pc:docMkLst>
        <pc:docMk/>
      </pc:docMkLst>
      <pc:sldChg chg="modSp mod">
        <pc:chgData name="Sahasra Gandla" userId="5a2aafd5d30afc2b" providerId="LiveId" clId="{25DD5ABE-8A3C-4C82-AAD5-560E404CE185}" dt="2026-08-26T17:43:25.625" v="12" actId="14100"/>
        <pc:sldMkLst>
          <pc:docMk/>
          <pc:sldMk cId="0" sldId="267"/>
        </pc:sldMkLst>
        <pc:spChg chg="mod">
          <ac:chgData name="Sahasra Gandla" userId="5a2aafd5d30afc2b" providerId="LiveId" clId="{25DD5ABE-8A3C-4C82-AAD5-560E404CE185}" dt="2026-08-26T17:42:53.595" v="0" actId="1076"/>
          <ac:spMkLst>
            <pc:docMk/>
            <pc:sldMk cId="0" sldId="267"/>
            <ac:spMk id="4" creationId="{00000000-0000-0000-0000-000000000000}"/>
          </ac:spMkLst>
        </pc:spChg>
        <pc:spChg chg="mod">
          <ac:chgData name="Sahasra Gandla" userId="5a2aafd5d30afc2b" providerId="LiveId" clId="{25DD5ABE-8A3C-4C82-AAD5-560E404CE185}" dt="2026-08-26T17:43:04.058" v="3" actId="1076"/>
          <ac:spMkLst>
            <pc:docMk/>
            <pc:sldMk cId="0" sldId="267"/>
            <ac:spMk id="6" creationId="{00000000-0000-0000-0000-000000000000}"/>
          </ac:spMkLst>
        </pc:spChg>
        <pc:spChg chg="mod">
          <ac:chgData name="Sahasra Gandla" userId="5a2aafd5d30afc2b" providerId="LiveId" clId="{25DD5ABE-8A3C-4C82-AAD5-560E404CE185}" dt="2026-08-26T17:43:08.193" v="5" actId="1076"/>
          <ac:spMkLst>
            <pc:docMk/>
            <pc:sldMk cId="0" sldId="267"/>
            <ac:spMk id="8" creationId="{00000000-0000-0000-0000-000000000000}"/>
          </ac:spMkLst>
        </pc:spChg>
        <pc:spChg chg="mod">
          <ac:chgData name="Sahasra Gandla" userId="5a2aafd5d30afc2b" providerId="LiveId" clId="{25DD5ABE-8A3C-4C82-AAD5-560E404CE185}" dt="2026-08-26T17:43:12.708" v="7" actId="1076"/>
          <ac:spMkLst>
            <pc:docMk/>
            <pc:sldMk cId="0" sldId="267"/>
            <ac:spMk id="10" creationId="{00000000-0000-0000-0000-000000000000}"/>
          </ac:spMkLst>
        </pc:spChg>
        <pc:spChg chg="mod">
          <ac:chgData name="Sahasra Gandla" userId="5a2aafd5d30afc2b" providerId="LiveId" clId="{25DD5ABE-8A3C-4C82-AAD5-560E404CE185}" dt="2026-08-26T17:43:16.776" v="9" actId="1076"/>
          <ac:spMkLst>
            <pc:docMk/>
            <pc:sldMk cId="0" sldId="267"/>
            <ac:spMk id="12" creationId="{00000000-0000-0000-0000-000000000000}"/>
          </ac:spMkLst>
        </pc:spChg>
        <pc:spChg chg="mod">
          <ac:chgData name="Sahasra Gandla" userId="5a2aafd5d30afc2b" providerId="LiveId" clId="{25DD5ABE-8A3C-4C82-AAD5-560E404CE185}" dt="2026-08-26T17:43:25.625" v="12" actId="14100"/>
          <ac:spMkLst>
            <pc:docMk/>
            <pc:sldMk cId="0" sldId="267"/>
            <ac:spMk id="14" creationId="{00000000-0000-0000-0000-000000000000}"/>
          </ac:spMkLst>
        </pc:spChg>
        <pc:cxnChg chg="mod">
          <ac:chgData name="Sahasra Gandla" userId="5a2aafd5d30afc2b" providerId="LiveId" clId="{25DD5ABE-8A3C-4C82-AAD5-560E404CE185}" dt="2026-08-26T17:43:00.193" v="2" actId="1076"/>
          <ac:cxnSpMkLst>
            <pc:docMk/>
            <pc:sldMk cId="0" sldId="267"/>
            <ac:cxnSpMk id="5" creationId="{00000000-0000-0000-0000-000000000000}"/>
          </ac:cxnSpMkLst>
        </pc:cxnChg>
        <pc:cxnChg chg="mod">
          <ac:chgData name="Sahasra Gandla" userId="5a2aafd5d30afc2b" providerId="LiveId" clId="{25DD5ABE-8A3C-4C82-AAD5-560E404CE185}" dt="2026-08-26T17:43:06.684" v="4" actId="1076"/>
          <ac:cxnSpMkLst>
            <pc:docMk/>
            <pc:sldMk cId="0" sldId="267"/>
            <ac:cxnSpMk id="7" creationId="{00000000-0000-0000-0000-000000000000}"/>
          </ac:cxnSpMkLst>
        </pc:cxnChg>
        <pc:cxnChg chg="mod">
          <ac:chgData name="Sahasra Gandla" userId="5a2aafd5d30afc2b" providerId="LiveId" clId="{25DD5ABE-8A3C-4C82-AAD5-560E404CE185}" dt="2026-08-26T17:43:10.592" v="6" actId="1076"/>
          <ac:cxnSpMkLst>
            <pc:docMk/>
            <pc:sldMk cId="0" sldId="267"/>
            <ac:cxnSpMk id="9" creationId="{00000000-0000-0000-0000-000000000000}"/>
          </ac:cxnSpMkLst>
        </pc:cxnChg>
        <pc:cxnChg chg="mod">
          <ac:chgData name="Sahasra Gandla" userId="5a2aafd5d30afc2b" providerId="LiveId" clId="{25DD5ABE-8A3C-4C82-AAD5-560E404CE185}" dt="2026-08-26T17:43:15.233" v="8" actId="1076"/>
          <ac:cxnSpMkLst>
            <pc:docMk/>
            <pc:sldMk cId="0" sldId="267"/>
            <ac:cxnSpMk id="11" creationId="{00000000-0000-0000-0000-000000000000}"/>
          </ac:cxnSpMkLst>
        </pc:cxnChg>
        <pc:cxnChg chg="mod">
          <ac:chgData name="Sahasra Gandla" userId="5a2aafd5d30afc2b" providerId="LiveId" clId="{25DD5ABE-8A3C-4C82-AAD5-560E404CE185}" dt="2026-08-26T17:43:18.647" v="10" actId="1076"/>
          <ac:cxnSpMkLst>
            <pc:docMk/>
            <pc:sldMk cId="0" sldId="267"/>
            <ac:cxnSpMk id="13" creationId="{00000000-0000-0000-0000-000000000000}"/>
          </ac:cxnSpMkLst>
        </pc:cxnChg>
      </pc:sldChg>
      <pc:sldChg chg="modSp mod">
        <pc:chgData name="Sahasra Gandla" userId="5a2aafd5d30afc2b" providerId="LiveId" clId="{25DD5ABE-8A3C-4C82-AAD5-560E404CE185}" dt="2026-08-26T17:43:42.339" v="23" actId="20577"/>
        <pc:sldMkLst>
          <pc:docMk/>
          <pc:sldMk cId="0" sldId="269"/>
        </pc:sldMkLst>
        <pc:spChg chg="mod">
          <ac:chgData name="Sahasra Gandla" userId="5a2aafd5d30afc2b" providerId="LiveId" clId="{25DD5ABE-8A3C-4C82-AAD5-560E404CE185}" dt="2026-08-26T17:43:42.339" v="23" actId="20577"/>
          <ac:spMkLst>
            <pc:docMk/>
            <pc:sldMk cId="0" sldId="269"/>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E50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325880"/>
            <a:ext cx="10789920" cy="1188720"/>
          </a:xfrm>
          <a:prstGeom prst="rect">
            <a:avLst/>
          </a:prstGeom>
          <a:noFill/>
        </p:spPr>
        <p:txBody>
          <a:bodyPr wrap="none">
            <a:spAutoFit/>
          </a:bodyPr>
          <a:lstStyle/>
          <a:p>
            <a:pPr>
              <a:defRPr sz="4400" b="1">
                <a:solidFill>
                  <a:srgbClr val="1E5096"/>
                </a:solidFill>
              </a:defRPr>
            </a:pPr>
            <a:r>
              <a:t>MediSearch</a:t>
            </a:r>
          </a:p>
          <a:p>
            <a:pPr>
              <a:defRPr sz="2300">
                <a:solidFill>
                  <a:srgbClr val="232830"/>
                </a:solidFill>
              </a:defRPr>
            </a:pPr>
            <a:r>
              <a:t>Intelligent Patient Retrieval System Using Advanced String Algorithms</a:t>
            </a:r>
          </a:p>
        </p:txBody>
      </p:sp>
      <p:sp>
        <p:nvSpPr>
          <p:cNvPr id="4" name="Rounded Rectangle 3"/>
          <p:cNvSpPr/>
          <p:nvPr/>
        </p:nvSpPr>
        <p:spPr>
          <a:xfrm>
            <a:off x="822960" y="2926080"/>
            <a:ext cx="3200400" cy="1234440"/>
          </a:xfrm>
          <a:prstGeom prst="roundRect">
            <a:avLst/>
          </a:prstGeom>
          <a:solidFill>
            <a:srgbClr val="EBF4FC"/>
          </a:solidFill>
          <a:ln>
            <a:solidFill>
              <a:srgbClr val="2D8C5A"/>
            </a:solidFill>
          </a:ln>
        </p:spPr>
        <p:style>
          <a:lnRef idx="1">
            <a:schemeClr val="accent1"/>
          </a:lnRef>
          <a:fillRef idx="3">
            <a:schemeClr val="accent1"/>
          </a:fillRef>
          <a:effectRef idx="2">
            <a:schemeClr val="accent1"/>
          </a:effectRef>
          <a:fontRef idx="minor">
            <a:schemeClr val="lt1"/>
          </a:fontRef>
        </p:style>
        <p:txBody>
          <a:bodyPr lIns="137160" rIns="137160" rtlCol="0" anchor="ctr"/>
          <a:lstStyle/>
          <a:p>
            <a:pPr algn="ctr">
              <a:defRPr sz="1800" b="1">
                <a:solidFill>
                  <a:srgbClr val="2D8C5A"/>
                </a:solidFill>
              </a:defRPr>
            </a:pPr>
            <a:r>
              <a:t>DSA-3 Review – 2</a:t>
            </a:r>
          </a:p>
          <a:p>
            <a:pPr>
              <a:defRPr sz="1400">
                <a:solidFill>
                  <a:srgbClr val="232830"/>
                </a:solidFill>
              </a:defRPr>
            </a:pPr>
            <a:r>
              <a:t>Pattern Matching • Fuzzy Matching • Flow Design</a:t>
            </a:r>
          </a:p>
        </p:txBody>
      </p:sp>
      <p:sp>
        <p:nvSpPr>
          <p:cNvPr id="5" name="Rounded Rectangle 4"/>
          <p:cNvSpPr/>
          <p:nvPr/>
        </p:nvSpPr>
        <p:spPr>
          <a:xfrm>
            <a:off x="4480560" y="2926080"/>
            <a:ext cx="2743200" cy="1234440"/>
          </a:xfrm>
          <a:prstGeom prst="roundRect">
            <a:avLst/>
          </a:prstGeom>
          <a:solidFill>
            <a:srgbClr val="EBF4FC"/>
          </a:solidFill>
          <a:ln>
            <a:solidFill>
              <a:srgbClr val="1E5096"/>
            </a:solidFill>
          </a:ln>
        </p:spPr>
        <p:style>
          <a:lnRef idx="1">
            <a:schemeClr val="accent1"/>
          </a:lnRef>
          <a:fillRef idx="3">
            <a:schemeClr val="accent1"/>
          </a:fillRef>
          <a:effectRef idx="2">
            <a:schemeClr val="accent1"/>
          </a:effectRef>
          <a:fontRef idx="minor">
            <a:schemeClr val="lt1"/>
          </a:fontRef>
        </p:style>
        <p:txBody>
          <a:bodyPr lIns="137160" rIns="137160" rtlCol="0" anchor="ctr"/>
          <a:lstStyle/>
          <a:p>
            <a:pPr algn="ctr">
              <a:defRPr sz="1800" b="1">
                <a:solidFill>
                  <a:srgbClr val="1E5096"/>
                </a:solidFill>
              </a:defRPr>
            </a:pPr>
            <a:r>
              <a:rPr dirty="0"/>
              <a:t>Team</a:t>
            </a:r>
          </a:p>
          <a:p>
            <a:pPr>
              <a:defRPr sz="1400">
                <a:solidFill>
                  <a:srgbClr val="232830"/>
                </a:solidFill>
              </a:defRPr>
            </a:pPr>
            <a:r>
              <a:rPr dirty="0"/>
              <a:t>T. Tejaswini</a:t>
            </a:r>
            <a:br>
              <a:rPr dirty="0"/>
            </a:br>
            <a:r>
              <a:rPr dirty="0"/>
              <a:t>G. Sahasra</a:t>
            </a:r>
            <a:br>
              <a:rPr dirty="0"/>
            </a:br>
            <a:r>
              <a:rPr dirty="0"/>
              <a:t>M. Akhila</a:t>
            </a:r>
          </a:p>
        </p:txBody>
      </p:sp>
      <p:sp>
        <p:nvSpPr>
          <p:cNvPr id="6" name="Rounded Rectangle 5"/>
          <p:cNvSpPr/>
          <p:nvPr/>
        </p:nvSpPr>
        <p:spPr>
          <a:xfrm>
            <a:off x="7680960" y="2926080"/>
            <a:ext cx="3200400" cy="1234440"/>
          </a:xfrm>
          <a:prstGeom prst="roundRect">
            <a:avLst/>
          </a:prstGeom>
          <a:solidFill>
            <a:srgbClr val="EBF4FC"/>
          </a:solidFill>
          <a:ln>
            <a:solidFill>
              <a:srgbClr val="BE4646"/>
            </a:solidFill>
          </a:ln>
        </p:spPr>
        <p:style>
          <a:lnRef idx="1">
            <a:schemeClr val="accent1"/>
          </a:lnRef>
          <a:fillRef idx="3">
            <a:schemeClr val="accent1"/>
          </a:fillRef>
          <a:effectRef idx="2">
            <a:schemeClr val="accent1"/>
          </a:effectRef>
          <a:fontRef idx="minor">
            <a:schemeClr val="lt1"/>
          </a:fontRef>
        </p:style>
        <p:txBody>
          <a:bodyPr lIns="137160" rIns="137160" rtlCol="0" anchor="ctr"/>
          <a:lstStyle/>
          <a:p>
            <a:pPr algn="ctr">
              <a:defRPr sz="1800" b="1">
                <a:solidFill>
                  <a:srgbClr val="BE4646"/>
                </a:solidFill>
              </a:defRPr>
            </a:pPr>
            <a:r>
              <a:t>Focus</a:t>
            </a:r>
          </a:p>
          <a:p>
            <a:pPr>
              <a:defRPr sz="1400">
                <a:solidFill>
                  <a:srgbClr val="232830"/>
                </a:solidFill>
              </a:defRPr>
            </a:pPr>
            <a:r>
              <a:t>KMP + Edit Distance</a:t>
            </a:r>
            <a:br/>
            <a:r>
              <a:t>HashMap + Trie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E50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1064240" cy="594360"/>
          </a:xfrm>
          <a:prstGeom prst="rect">
            <a:avLst/>
          </a:prstGeom>
          <a:noFill/>
        </p:spPr>
        <p:txBody>
          <a:bodyPr wrap="none">
            <a:spAutoFit/>
          </a:bodyPr>
          <a:lstStyle/>
          <a:p>
            <a:pPr>
              <a:defRPr sz="2800" b="1">
                <a:solidFill>
                  <a:srgbClr val="1E5096"/>
                </a:solidFill>
                <a:latin typeface="Aptos Display"/>
              </a:defRPr>
            </a:pPr>
            <a:r>
              <a:t>Abstract</a:t>
            </a:r>
          </a:p>
        </p:txBody>
      </p:sp>
      <p:sp>
        <p:nvSpPr>
          <p:cNvPr id="4" name="TextBox 3"/>
          <p:cNvSpPr txBox="1"/>
          <p:nvPr/>
        </p:nvSpPr>
        <p:spPr>
          <a:xfrm>
            <a:off x="731520" y="1325880"/>
            <a:ext cx="10698480" cy="4937760"/>
          </a:xfrm>
          <a:prstGeom prst="rect">
            <a:avLst/>
          </a:prstGeom>
          <a:noFill/>
        </p:spPr>
        <p:txBody>
          <a:bodyPr wrap="square">
            <a:spAutoFit/>
          </a:bodyPr>
          <a:lstStyle/>
          <a:p>
            <a:pPr>
              <a:spcAft>
                <a:spcPts val="1200"/>
              </a:spcAft>
              <a:defRPr sz="1800">
                <a:solidFill>
                  <a:srgbClr val="232830"/>
                </a:solidFill>
                <a:latin typeface="Aptos"/>
              </a:defRPr>
            </a:pPr>
            <a:r>
              <a:t>MediSearch is a Data Structures and Algorithms (DSA)-based patient retrieval system.</a:t>
            </a:r>
          </a:p>
          <a:p>
            <a:pPr>
              <a:spcAft>
                <a:spcPts val="1200"/>
              </a:spcAft>
              <a:defRPr sz="1800">
                <a:solidFill>
                  <a:srgbClr val="232830"/>
                </a:solidFill>
                <a:latin typeface="Aptos"/>
              </a:defRPr>
            </a:pPr>
            <a:r>
              <a:t>It focuses on fast and efficient searching of large patient records rather than general hospital management.</a:t>
            </a:r>
          </a:p>
          <a:p>
            <a:pPr>
              <a:spcAft>
                <a:spcPts val="1200"/>
              </a:spcAft>
              <a:defRPr sz="1800">
                <a:solidFill>
                  <a:srgbClr val="232830"/>
                </a:solidFill>
                <a:latin typeface="Aptos"/>
              </a:defRPr>
            </a:pPr>
            <a:r>
              <a:t>Users can search by Patient ID, name, disease, symptoms, diagnosis, or medicines.</a:t>
            </a:r>
          </a:p>
          <a:p>
            <a:pPr>
              <a:spcAft>
                <a:spcPts val="1200"/>
              </a:spcAft>
              <a:defRPr sz="1800">
                <a:solidFill>
                  <a:srgbClr val="232830"/>
                </a:solidFill>
                <a:latin typeface="Aptos"/>
              </a:defRPr>
            </a:pPr>
            <a:r>
              <a:t>HashMap supports quick Patient ID lookup; Trie supports autocomplete and prefix-based search.</a:t>
            </a:r>
          </a:p>
          <a:p>
            <a:pPr>
              <a:spcAft>
                <a:spcPts val="1200"/>
              </a:spcAft>
              <a:defRPr sz="1800">
                <a:solidFill>
                  <a:srgbClr val="232830"/>
                </a:solidFill>
                <a:latin typeface="Aptos"/>
              </a:defRPr>
            </a:pPr>
            <a:r>
              <a:t>KMP supports efficient pattern matching, while Edit Distance supports fuzzy matching and spelling correction.</a:t>
            </a:r>
          </a:p>
          <a:p>
            <a:pPr>
              <a:spcAft>
                <a:spcPts val="1200"/>
              </a:spcAft>
              <a:defRPr sz="1800">
                <a:solidFill>
                  <a:srgbClr val="232830"/>
                </a:solidFill>
                <a:latin typeface="Aptos"/>
              </a:defRPr>
            </a:pPr>
            <a:r>
              <a:t>The goal is to reduce search time and improve the accuracy and relevance of retrieved patient information.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E50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1064240" cy="594360"/>
          </a:xfrm>
          <a:prstGeom prst="rect">
            <a:avLst/>
          </a:prstGeom>
          <a:noFill/>
        </p:spPr>
        <p:txBody>
          <a:bodyPr wrap="none">
            <a:spAutoFit/>
          </a:bodyPr>
          <a:lstStyle/>
          <a:p>
            <a:pPr>
              <a:defRPr sz="2800" b="1">
                <a:solidFill>
                  <a:srgbClr val="1E5096"/>
                </a:solidFill>
                <a:latin typeface="Aptos Display"/>
              </a:defRPr>
            </a:pPr>
            <a:r>
              <a:t>Problem Statement</a:t>
            </a:r>
          </a:p>
        </p:txBody>
      </p:sp>
      <p:sp>
        <p:nvSpPr>
          <p:cNvPr id="4" name="Rounded Rectangle 3"/>
          <p:cNvSpPr/>
          <p:nvPr/>
        </p:nvSpPr>
        <p:spPr>
          <a:xfrm>
            <a:off x="640080" y="1325880"/>
            <a:ext cx="5212080" cy="4389120"/>
          </a:xfrm>
          <a:prstGeom prst="roundRect">
            <a:avLst/>
          </a:prstGeom>
          <a:solidFill>
            <a:srgbClr val="EBF4FC"/>
          </a:solidFill>
          <a:ln>
            <a:solidFill>
              <a:srgbClr val="BE4646"/>
            </a:solidFill>
          </a:ln>
        </p:spPr>
        <p:style>
          <a:lnRef idx="1">
            <a:schemeClr val="accent1"/>
          </a:lnRef>
          <a:fillRef idx="3">
            <a:schemeClr val="accent1"/>
          </a:fillRef>
          <a:effectRef idx="2">
            <a:schemeClr val="accent1"/>
          </a:effectRef>
          <a:fontRef idx="minor">
            <a:schemeClr val="lt1"/>
          </a:fontRef>
        </p:style>
        <p:txBody>
          <a:bodyPr lIns="137160" rIns="137160" rtlCol="0" anchor="ctr"/>
          <a:lstStyle/>
          <a:p>
            <a:pPr algn="ctr">
              <a:defRPr sz="1800" b="1">
                <a:solidFill>
                  <a:srgbClr val="BE4646"/>
                </a:solidFill>
              </a:defRPr>
            </a:pPr>
            <a:r>
              <a:t>Problem</a:t>
            </a:r>
          </a:p>
          <a:p>
            <a:pPr>
              <a:defRPr sz="1400">
                <a:solidFill>
                  <a:srgbClr val="232830"/>
                </a:solidFill>
              </a:defRPr>
            </a:pPr>
            <a:r>
              <a:t>Hospitals store large amounts of medical information. As records grow, finding the required information can become slow and difficult. Traditional searching may also fail when the query is incomplete or misspelled.</a:t>
            </a:r>
          </a:p>
        </p:txBody>
      </p:sp>
      <p:sp>
        <p:nvSpPr>
          <p:cNvPr id="5" name="Rounded Rectangle 4"/>
          <p:cNvSpPr/>
          <p:nvPr/>
        </p:nvSpPr>
        <p:spPr>
          <a:xfrm>
            <a:off x="6309360" y="1325880"/>
            <a:ext cx="5212080" cy="4389120"/>
          </a:xfrm>
          <a:prstGeom prst="roundRect">
            <a:avLst/>
          </a:prstGeom>
          <a:solidFill>
            <a:srgbClr val="EBF4FC"/>
          </a:solidFill>
          <a:ln>
            <a:solidFill>
              <a:srgbClr val="2D8C5A"/>
            </a:solidFill>
          </a:ln>
        </p:spPr>
        <p:style>
          <a:lnRef idx="1">
            <a:schemeClr val="accent1"/>
          </a:lnRef>
          <a:fillRef idx="3">
            <a:schemeClr val="accent1"/>
          </a:fillRef>
          <a:effectRef idx="2">
            <a:schemeClr val="accent1"/>
          </a:effectRef>
          <a:fontRef idx="minor">
            <a:schemeClr val="lt1"/>
          </a:fontRef>
        </p:style>
        <p:txBody>
          <a:bodyPr lIns="137160" rIns="137160" rtlCol="0" anchor="ctr"/>
          <a:lstStyle/>
          <a:p>
            <a:pPr algn="ctr">
              <a:defRPr sz="1800" b="1">
                <a:solidFill>
                  <a:srgbClr val="2D8C5A"/>
                </a:solidFill>
              </a:defRPr>
            </a:pPr>
            <a:r>
              <a:t>Need</a:t>
            </a:r>
          </a:p>
          <a:p>
            <a:pPr>
              <a:defRPr sz="1400">
                <a:solidFill>
                  <a:srgbClr val="232830"/>
                </a:solidFill>
              </a:defRPr>
            </a:pPr>
            <a:r>
              <a:t>A searchable patient repository is needed to provide fast and accurate retrieval and to help identify relevant or similar medical cases.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E50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1064240" cy="594360"/>
          </a:xfrm>
          <a:prstGeom prst="rect">
            <a:avLst/>
          </a:prstGeom>
          <a:noFill/>
        </p:spPr>
        <p:txBody>
          <a:bodyPr wrap="none">
            <a:spAutoFit/>
          </a:bodyPr>
          <a:lstStyle/>
          <a:p>
            <a:pPr>
              <a:defRPr sz="2800" b="1">
                <a:solidFill>
                  <a:srgbClr val="1E5096"/>
                </a:solidFill>
                <a:latin typeface="Aptos Display"/>
              </a:defRPr>
            </a:pPr>
            <a:r>
              <a:t>Proposed Functionalities</a:t>
            </a:r>
          </a:p>
        </p:txBody>
      </p:sp>
      <p:sp>
        <p:nvSpPr>
          <p:cNvPr id="4" name="Rounded Rectangle 3"/>
          <p:cNvSpPr/>
          <p:nvPr/>
        </p:nvSpPr>
        <p:spPr>
          <a:xfrm>
            <a:off x="640080" y="1280160"/>
            <a:ext cx="3429000" cy="1691640"/>
          </a:xfrm>
          <a:prstGeom prst="roundRect">
            <a:avLst/>
          </a:prstGeom>
          <a:solidFill>
            <a:srgbClr val="EBF4FC"/>
          </a:solidFill>
          <a:ln>
            <a:solidFill>
              <a:srgbClr val="1E5096"/>
            </a:solidFill>
          </a:ln>
        </p:spPr>
        <p:style>
          <a:lnRef idx="1">
            <a:schemeClr val="accent1"/>
          </a:lnRef>
          <a:fillRef idx="3">
            <a:schemeClr val="accent1"/>
          </a:fillRef>
          <a:effectRef idx="2">
            <a:schemeClr val="accent1"/>
          </a:effectRef>
          <a:fontRef idx="minor">
            <a:schemeClr val="lt1"/>
          </a:fontRef>
        </p:style>
        <p:txBody>
          <a:bodyPr lIns="137160" rIns="137160" rtlCol="0" anchor="ctr"/>
          <a:lstStyle/>
          <a:p>
            <a:pPr algn="ctr">
              <a:defRPr sz="1800" b="1">
                <a:solidFill>
                  <a:srgbClr val="1E5096"/>
                </a:solidFill>
              </a:defRPr>
            </a:pPr>
            <a:r>
              <a:t>Patient Search</a:t>
            </a:r>
          </a:p>
          <a:p>
            <a:pPr>
              <a:defRPr sz="1400">
                <a:solidFill>
                  <a:srgbClr val="232830"/>
                </a:solidFill>
              </a:defRPr>
            </a:pPr>
            <a:r>
              <a:t>Search by ID, name, disease, symptoms, diagnosis and medicines.</a:t>
            </a:r>
          </a:p>
        </p:txBody>
      </p:sp>
      <p:sp>
        <p:nvSpPr>
          <p:cNvPr id="5" name="Rounded Rectangle 4"/>
          <p:cNvSpPr/>
          <p:nvPr/>
        </p:nvSpPr>
        <p:spPr>
          <a:xfrm>
            <a:off x="4434840" y="1280160"/>
            <a:ext cx="3429000" cy="1691640"/>
          </a:xfrm>
          <a:prstGeom prst="roundRect">
            <a:avLst/>
          </a:prstGeom>
          <a:solidFill>
            <a:srgbClr val="EBF4FC"/>
          </a:solidFill>
          <a:ln>
            <a:solidFill>
              <a:srgbClr val="1E5096"/>
            </a:solidFill>
          </a:ln>
        </p:spPr>
        <p:style>
          <a:lnRef idx="1">
            <a:schemeClr val="accent1"/>
          </a:lnRef>
          <a:fillRef idx="3">
            <a:schemeClr val="accent1"/>
          </a:fillRef>
          <a:effectRef idx="2">
            <a:schemeClr val="accent1"/>
          </a:effectRef>
          <a:fontRef idx="minor">
            <a:schemeClr val="lt1"/>
          </a:fontRef>
        </p:style>
        <p:txBody>
          <a:bodyPr lIns="137160" rIns="137160" rtlCol="0" anchor="ctr"/>
          <a:lstStyle/>
          <a:p>
            <a:pPr algn="ctr">
              <a:defRPr sz="1800" b="1">
                <a:solidFill>
                  <a:srgbClr val="1E5096"/>
                </a:solidFill>
              </a:defRPr>
            </a:pPr>
            <a:r>
              <a:t>Autocomplete</a:t>
            </a:r>
          </a:p>
          <a:p>
            <a:pPr>
              <a:defRPr sz="1400">
                <a:solidFill>
                  <a:srgbClr val="232830"/>
                </a:solidFill>
              </a:defRPr>
            </a:pPr>
            <a:r>
              <a:t>Suggest relevant terms while the user types.</a:t>
            </a:r>
          </a:p>
        </p:txBody>
      </p:sp>
      <p:sp>
        <p:nvSpPr>
          <p:cNvPr id="6" name="Rounded Rectangle 5"/>
          <p:cNvSpPr/>
          <p:nvPr/>
        </p:nvSpPr>
        <p:spPr>
          <a:xfrm>
            <a:off x="8229600" y="1280160"/>
            <a:ext cx="3429000" cy="1691640"/>
          </a:xfrm>
          <a:prstGeom prst="roundRect">
            <a:avLst/>
          </a:prstGeom>
          <a:solidFill>
            <a:srgbClr val="EBF4FC"/>
          </a:solidFill>
          <a:ln>
            <a:solidFill>
              <a:srgbClr val="1E5096"/>
            </a:solidFill>
          </a:ln>
        </p:spPr>
        <p:style>
          <a:lnRef idx="1">
            <a:schemeClr val="accent1"/>
          </a:lnRef>
          <a:fillRef idx="3">
            <a:schemeClr val="accent1"/>
          </a:fillRef>
          <a:effectRef idx="2">
            <a:schemeClr val="accent1"/>
          </a:effectRef>
          <a:fontRef idx="minor">
            <a:schemeClr val="lt1"/>
          </a:fontRef>
        </p:style>
        <p:txBody>
          <a:bodyPr lIns="137160" rIns="137160" rtlCol="0" anchor="ctr"/>
          <a:lstStyle/>
          <a:p>
            <a:pPr algn="ctr">
              <a:defRPr sz="1800" b="1">
                <a:solidFill>
                  <a:srgbClr val="1E5096"/>
                </a:solidFill>
              </a:defRPr>
            </a:pPr>
            <a:r>
              <a:t>Pattern Matching</a:t>
            </a:r>
          </a:p>
          <a:p>
            <a:pPr>
              <a:defRPr sz="1400">
                <a:solidFill>
                  <a:srgbClr val="232830"/>
                </a:solidFill>
              </a:defRPr>
            </a:pPr>
            <a:r>
              <a:t>Find medical keywords inside patient records.</a:t>
            </a:r>
          </a:p>
        </p:txBody>
      </p:sp>
      <p:sp>
        <p:nvSpPr>
          <p:cNvPr id="7" name="Rounded Rectangle 6"/>
          <p:cNvSpPr/>
          <p:nvPr/>
        </p:nvSpPr>
        <p:spPr>
          <a:xfrm>
            <a:off x="640080" y="3429000"/>
            <a:ext cx="3429000" cy="1691640"/>
          </a:xfrm>
          <a:prstGeom prst="roundRect">
            <a:avLst/>
          </a:prstGeom>
          <a:solidFill>
            <a:srgbClr val="EBF4FC"/>
          </a:solidFill>
          <a:ln>
            <a:solidFill>
              <a:srgbClr val="2D8C5A"/>
            </a:solidFill>
          </a:ln>
        </p:spPr>
        <p:style>
          <a:lnRef idx="1">
            <a:schemeClr val="accent1"/>
          </a:lnRef>
          <a:fillRef idx="3">
            <a:schemeClr val="accent1"/>
          </a:fillRef>
          <a:effectRef idx="2">
            <a:schemeClr val="accent1"/>
          </a:effectRef>
          <a:fontRef idx="minor">
            <a:schemeClr val="lt1"/>
          </a:fontRef>
        </p:style>
        <p:txBody>
          <a:bodyPr lIns="137160" rIns="137160" rtlCol="0" anchor="ctr"/>
          <a:lstStyle/>
          <a:p>
            <a:pPr algn="ctr">
              <a:defRPr sz="1800" b="1">
                <a:solidFill>
                  <a:srgbClr val="2D8C5A"/>
                </a:solidFill>
              </a:defRPr>
            </a:pPr>
            <a:r>
              <a:t>Fuzzy Matching</a:t>
            </a:r>
          </a:p>
          <a:p>
            <a:pPr>
              <a:defRPr sz="1400">
                <a:solidFill>
                  <a:srgbClr val="232830"/>
                </a:solidFill>
              </a:defRPr>
            </a:pPr>
            <a:r>
              <a:t>Handle small spelling differences in search queries.</a:t>
            </a:r>
          </a:p>
        </p:txBody>
      </p:sp>
      <p:sp>
        <p:nvSpPr>
          <p:cNvPr id="8" name="Rounded Rectangle 7"/>
          <p:cNvSpPr/>
          <p:nvPr/>
        </p:nvSpPr>
        <p:spPr>
          <a:xfrm>
            <a:off x="4434840" y="3429000"/>
            <a:ext cx="3429000" cy="1691640"/>
          </a:xfrm>
          <a:prstGeom prst="roundRect">
            <a:avLst/>
          </a:prstGeom>
          <a:solidFill>
            <a:srgbClr val="EBF4FC"/>
          </a:solidFill>
          <a:ln>
            <a:solidFill>
              <a:srgbClr val="2D8C5A"/>
            </a:solidFill>
          </a:ln>
        </p:spPr>
        <p:style>
          <a:lnRef idx="1">
            <a:schemeClr val="accent1"/>
          </a:lnRef>
          <a:fillRef idx="3">
            <a:schemeClr val="accent1"/>
          </a:fillRef>
          <a:effectRef idx="2">
            <a:schemeClr val="accent1"/>
          </a:effectRef>
          <a:fontRef idx="minor">
            <a:schemeClr val="lt1"/>
          </a:fontRef>
        </p:style>
        <p:txBody>
          <a:bodyPr lIns="137160" rIns="137160" rtlCol="0" anchor="ctr"/>
          <a:lstStyle/>
          <a:p>
            <a:pPr algn="ctr">
              <a:defRPr sz="1800" b="1">
                <a:solidFill>
                  <a:srgbClr val="2D8C5A"/>
                </a:solidFill>
              </a:defRPr>
            </a:pPr>
            <a:r>
              <a:t>Patient Details</a:t>
            </a:r>
          </a:p>
          <a:p>
            <a:pPr>
              <a:defRPr sz="1400">
                <a:solidFill>
                  <a:srgbClr val="232830"/>
                </a:solidFill>
              </a:defRPr>
            </a:pPr>
            <a:r>
              <a:t>Display relevant patient information and history.</a:t>
            </a:r>
          </a:p>
        </p:txBody>
      </p:sp>
      <p:sp>
        <p:nvSpPr>
          <p:cNvPr id="9" name="Rounded Rectangle 8"/>
          <p:cNvSpPr/>
          <p:nvPr/>
        </p:nvSpPr>
        <p:spPr>
          <a:xfrm>
            <a:off x="8229600" y="3429000"/>
            <a:ext cx="3429000" cy="1691640"/>
          </a:xfrm>
          <a:prstGeom prst="roundRect">
            <a:avLst/>
          </a:prstGeom>
          <a:solidFill>
            <a:srgbClr val="EBF4FC"/>
          </a:solidFill>
          <a:ln>
            <a:solidFill>
              <a:srgbClr val="2D8C5A"/>
            </a:solidFill>
          </a:ln>
        </p:spPr>
        <p:style>
          <a:lnRef idx="1">
            <a:schemeClr val="accent1"/>
          </a:lnRef>
          <a:fillRef idx="3">
            <a:schemeClr val="accent1"/>
          </a:fillRef>
          <a:effectRef idx="2">
            <a:schemeClr val="accent1"/>
          </a:effectRef>
          <a:fontRef idx="minor">
            <a:schemeClr val="lt1"/>
          </a:fontRef>
        </p:style>
        <p:txBody>
          <a:bodyPr lIns="137160" rIns="137160" rtlCol="0" anchor="ctr"/>
          <a:lstStyle/>
          <a:p>
            <a:pPr algn="ctr">
              <a:defRPr sz="1800" b="1">
                <a:solidFill>
                  <a:srgbClr val="2D8C5A"/>
                </a:solidFill>
              </a:defRPr>
            </a:pPr>
            <a:r>
              <a:t>Search Statistics</a:t>
            </a:r>
          </a:p>
          <a:p>
            <a:pPr>
              <a:defRPr sz="1400">
                <a:solidFill>
                  <a:srgbClr val="232830"/>
                </a:solidFill>
              </a:defRPr>
            </a:pPr>
            <a:r>
              <a:t>Show matching results and algorithm information.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E50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1064240" cy="594360"/>
          </a:xfrm>
          <a:prstGeom prst="rect">
            <a:avLst/>
          </a:prstGeom>
          <a:noFill/>
        </p:spPr>
        <p:txBody>
          <a:bodyPr wrap="none">
            <a:spAutoFit/>
          </a:bodyPr>
          <a:lstStyle/>
          <a:p>
            <a:pPr>
              <a:defRPr sz="2800" b="1">
                <a:solidFill>
                  <a:srgbClr val="1E5096"/>
                </a:solidFill>
                <a:latin typeface="Aptos Display"/>
              </a:defRPr>
            </a:pPr>
            <a:r>
              <a:t>DSA Used in MediSearch</a:t>
            </a:r>
          </a:p>
        </p:txBody>
      </p:sp>
      <p:sp>
        <p:nvSpPr>
          <p:cNvPr id="4" name="Rounded Rectangle 3"/>
          <p:cNvSpPr/>
          <p:nvPr/>
        </p:nvSpPr>
        <p:spPr>
          <a:xfrm>
            <a:off x="640080" y="1325880"/>
            <a:ext cx="2514600" cy="1920240"/>
          </a:xfrm>
          <a:prstGeom prst="roundRect">
            <a:avLst/>
          </a:prstGeom>
          <a:solidFill>
            <a:srgbClr val="EBF4FC"/>
          </a:solidFill>
          <a:ln>
            <a:solidFill>
              <a:srgbClr val="1E5096"/>
            </a:solidFill>
          </a:ln>
        </p:spPr>
        <p:style>
          <a:lnRef idx="1">
            <a:schemeClr val="accent1"/>
          </a:lnRef>
          <a:fillRef idx="3">
            <a:schemeClr val="accent1"/>
          </a:fillRef>
          <a:effectRef idx="2">
            <a:schemeClr val="accent1"/>
          </a:effectRef>
          <a:fontRef idx="minor">
            <a:schemeClr val="lt1"/>
          </a:fontRef>
        </p:style>
        <p:txBody>
          <a:bodyPr lIns="137160" rIns="137160" rtlCol="0" anchor="ctr"/>
          <a:lstStyle/>
          <a:p>
            <a:pPr algn="ctr">
              <a:defRPr sz="1800" b="1">
                <a:solidFill>
                  <a:srgbClr val="1E5096"/>
                </a:solidFill>
              </a:defRPr>
            </a:pPr>
            <a:r>
              <a:t>HashMap</a:t>
            </a:r>
          </a:p>
          <a:p>
            <a:pPr>
              <a:defRPr sz="1400">
                <a:solidFill>
                  <a:srgbClr val="232830"/>
                </a:solidFill>
              </a:defRPr>
            </a:pPr>
            <a:r>
              <a:t>Patient ID → Patient Record</a:t>
            </a:r>
            <a:br/>
            <a:r>
              <a:t>Average lookup: O(1)</a:t>
            </a:r>
          </a:p>
        </p:txBody>
      </p:sp>
      <p:sp>
        <p:nvSpPr>
          <p:cNvPr id="5" name="Rounded Rectangle 4"/>
          <p:cNvSpPr/>
          <p:nvPr/>
        </p:nvSpPr>
        <p:spPr>
          <a:xfrm>
            <a:off x="3337560" y="1325880"/>
            <a:ext cx="2514600" cy="1920240"/>
          </a:xfrm>
          <a:prstGeom prst="roundRect">
            <a:avLst/>
          </a:prstGeom>
          <a:solidFill>
            <a:srgbClr val="EBF4FC"/>
          </a:solidFill>
          <a:ln>
            <a:solidFill>
              <a:srgbClr val="2D8C5A"/>
            </a:solidFill>
          </a:ln>
        </p:spPr>
        <p:style>
          <a:lnRef idx="1">
            <a:schemeClr val="accent1"/>
          </a:lnRef>
          <a:fillRef idx="3">
            <a:schemeClr val="accent1"/>
          </a:fillRef>
          <a:effectRef idx="2">
            <a:schemeClr val="accent1"/>
          </a:effectRef>
          <a:fontRef idx="minor">
            <a:schemeClr val="lt1"/>
          </a:fontRef>
        </p:style>
        <p:txBody>
          <a:bodyPr lIns="137160" rIns="137160" rtlCol="0" anchor="ctr"/>
          <a:lstStyle/>
          <a:p>
            <a:pPr algn="ctr">
              <a:defRPr sz="1800" b="1">
                <a:solidFill>
                  <a:srgbClr val="2D8C5A"/>
                </a:solidFill>
              </a:defRPr>
            </a:pPr>
            <a:r>
              <a:t>Trie</a:t>
            </a:r>
          </a:p>
          <a:p>
            <a:pPr>
              <a:defRPr sz="1400">
                <a:solidFill>
                  <a:srgbClr val="232830"/>
                </a:solidFill>
              </a:defRPr>
            </a:pPr>
            <a:r>
              <a:t>Prefix search and autocomplete</a:t>
            </a:r>
            <a:br/>
            <a:r>
              <a:t>Example: Dia → Diabetes</a:t>
            </a:r>
          </a:p>
        </p:txBody>
      </p:sp>
      <p:sp>
        <p:nvSpPr>
          <p:cNvPr id="6" name="Rounded Rectangle 5"/>
          <p:cNvSpPr/>
          <p:nvPr/>
        </p:nvSpPr>
        <p:spPr>
          <a:xfrm>
            <a:off x="6035040" y="1325880"/>
            <a:ext cx="2514600" cy="1920240"/>
          </a:xfrm>
          <a:prstGeom prst="roundRect">
            <a:avLst/>
          </a:prstGeom>
          <a:solidFill>
            <a:srgbClr val="EBF4FC"/>
          </a:solidFill>
          <a:ln>
            <a:solidFill>
              <a:srgbClr val="BE4646"/>
            </a:solidFill>
          </a:ln>
        </p:spPr>
        <p:style>
          <a:lnRef idx="1">
            <a:schemeClr val="accent1"/>
          </a:lnRef>
          <a:fillRef idx="3">
            <a:schemeClr val="accent1"/>
          </a:fillRef>
          <a:effectRef idx="2">
            <a:schemeClr val="accent1"/>
          </a:effectRef>
          <a:fontRef idx="minor">
            <a:schemeClr val="lt1"/>
          </a:fontRef>
        </p:style>
        <p:txBody>
          <a:bodyPr lIns="137160" rIns="137160" rtlCol="0" anchor="ctr"/>
          <a:lstStyle/>
          <a:p>
            <a:pPr algn="ctr">
              <a:defRPr sz="1800" b="1">
                <a:solidFill>
                  <a:srgbClr val="BE4646"/>
                </a:solidFill>
              </a:defRPr>
            </a:pPr>
            <a:r>
              <a:t>KMP</a:t>
            </a:r>
          </a:p>
          <a:p>
            <a:pPr>
              <a:defRPr sz="1400">
                <a:solidFill>
                  <a:srgbClr val="232830"/>
                </a:solidFill>
              </a:defRPr>
            </a:pPr>
            <a:r>
              <a:t>Pattern matching inside medical text</a:t>
            </a:r>
            <a:br/>
            <a:r>
              <a:t>Time: O(n + m)</a:t>
            </a:r>
          </a:p>
        </p:txBody>
      </p:sp>
      <p:sp>
        <p:nvSpPr>
          <p:cNvPr id="7" name="Rounded Rectangle 6"/>
          <p:cNvSpPr/>
          <p:nvPr/>
        </p:nvSpPr>
        <p:spPr>
          <a:xfrm>
            <a:off x="8732520" y="1325880"/>
            <a:ext cx="2514600" cy="1920240"/>
          </a:xfrm>
          <a:prstGeom prst="roundRect">
            <a:avLst/>
          </a:prstGeom>
          <a:solidFill>
            <a:srgbClr val="EBF4FC"/>
          </a:solidFill>
          <a:ln>
            <a:solidFill>
              <a:srgbClr val="1E5096"/>
            </a:solidFill>
          </a:ln>
        </p:spPr>
        <p:style>
          <a:lnRef idx="1">
            <a:schemeClr val="accent1"/>
          </a:lnRef>
          <a:fillRef idx="3">
            <a:schemeClr val="accent1"/>
          </a:fillRef>
          <a:effectRef idx="2">
            <a:schemeClr val="accent1"/>
          </a:effectRef>
          <a:fontRef idx="minor">
            <a:schemeClr val="lt1"/>
          </a:fontRef>
        </p:style>
        <p:txBody>
          <a:bodyPr lIns="137160" rIns="137160" rtlCol="0" anchor="ctr"/>
          <a:lstStyle/>
          <a:p>
            <a:pPr algn="ctr">
              <a:defRPr sz="1800" b="1">
                <a:solidFill>
                  <a:srgbClr val="1E5096"/>
                </a:solidFill>
              </a:defRPr>
            </a:pPr>
            <a:r>
              <a:t>Edit Distance</a:t>
            </a:r>
          </a:p>
          <a:p>
            <a:pPr>
              <a:defRPr sz="1400">
                <a:solidFill>
                  <a:srgbClr val="232830"/>
                </a:solidFill>
              </a:defRPr>
            </a:pPr>
            <a:r>
              <a:t>Fuzzy matching and spelling correction</a:t>
            </a:r>
            <a:br/>
            <a:r>
              <a:t>Dynamic Programming</a:t>
            </a:r>
          </a:p>
        </p:txBody>
      </p:sp>
      <p:sp>
        <p:nvSpPr>
          <p:cNvPr id="8" name="TextBox 7"/>
          <p:cNvSpPr txBox="1"/>
          <p:nvPr/>
        </p:nvSpPr>
        <p:spPr>
          <a:xfrm>
            <a:off x="822960" y="3886200"/>
            <a:ext cx="10515600" cy="914400"/>
          </a:xfrm>
          <a:prstGeom prst="rect">
            <a:avLst/>
          </a:prstGeom>
          <a:noFill/>
        </p:spPr>
        <p:txBody>
          <a:bodyPr wrap="square">
            <a:spAutoFit/>
          </a:bodyPr>
          <a:lstStyle/>
          <a:p>
            <a:pPr>
              <a:spcAft>
                <a:spcPts val="1200"/>
              </a:spcAft>
              <a:defRPr sz="1800">
                <a:solidFill>
                  <a:srgbClr val="232830"/>
                </a:solidFill>
                <a:latin typeface="Aptos"/>
              </a:defRPr>
            </a:pPr>
            <a:r>
              <a:t>Main Review-2 focus: system flow, KMP execution, and fuzzy matching execution.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E50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1064240" cy="594360"/>
          </a:xfrm>
          <a:prstGeom prst="rect">
            <a:avLst/>
          </a:prstGeom>
          <a:noFill/>
        </p:spPr>
        <p:txBody>
          <a:bodyPr wrap="none">
            <a:spAutoFit/>
          </a:bodyPr>
          <a:lstStyle/>
          <a:p>
            <a:pPr>
              <a:defRPr sz="2800" b="1">
                <a:solidFill>
                  <a:srgbClr val="1E5096"/>
                </a:solidFill>
                <a:latin typeface="Aptos Display"/>
              </a:defRPr>
            </a:pPr>
            <a:r>
              <a:t>System Flowchart</a:t>
            </a:r>
          </a:p>
        </p:txBody>
      </p:sp>
      <p:sp>
        <p:nvSpPr>
          <p:cNvPr id="4" name="Rounded Rectangle 3"/>
          <p:cNvSpPr/>
          <p:nvPr/>
        </p:nvSpPr>
        <p:spPr>
          <a:xfrm>
            <a:off x="594360" y="2011680"/>
            <a:ext cx="1828800" cy="731520"/>
          </a:xfrm>
          <a:prstGeom prst="roundRect">
            <a:avLst/>
          </a:prstGeom>
          <a:solidFill>
            <a:srgbClr val="EBF4FC"/>
          </a:solidFill>
          <a:ln>
            <a:solidFill>
              <a:srgbClr val="1E509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232830"/>
                </a:solidFill>
              </a:defRPr>
            </a:pPr>
            <a:r>
              <a:t>Start</a:t>
            </a:r>
          </a:p>
        </p:txBody>
      </p:sp>
      <p:cxnSp>
        <p:nvCxnSpPr>
          <p:cNvPr id="5" name="Connector 4"/>
          <p:cNvCxnSpPr/>
          <p:nvPr/>
        </p:nvCxnSpPr>
        <p:spPr>
          <a:xfrm>
            <a:off x="2423160" y="2377440"/>
            <a:ext cx="320040" cy="0"/>
          </a:xfrm>
          <a:prstGeom prst="line">
            <a:avLst/>
          </a:prstGeom>
          <a:ln w="25400">
            <a:solidFill>
              <a:srgbClr val="697078"/>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2743200" y="2011680"/>
            <a:ext cx="1828800" cy="731520"/>
          </a:xfrm>
          <a:prstGeom prst="roundRect">
            <a:avLst/>
          </a:prstGeom>
          <a:solidFill>
            <a:srgbClr val="EBF4FC"/>
          </a:solidFill>
          <a:ln>
            <a:solidFill>
              <a:srgbClr val="1E509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232830"/>
                </a:solidFill>
              </a:defRPr>
            </a:pPr>
            <a:r>
              <a:t>Enter Search Query</a:t>
            </a:r>
          </a:p>
        </p:txBody>
      </p:sp>
      <p:cxnSp>
        <p:nvCxnSpPr>
          <p:cNvPr id="7" name="Connector 6"/>
          <p:cNvCxnSpPr/>
          <p:nvPr/>
        </p:nvCxnSpPr>
        <p:spPr>
          <a:xfrm>
            <a:off x="4572000" y="2377440"/>
            <a:ext cx="320040" cy="0"/>
          </a:xfrm>
          <a:prstGeom prst="line">
            <a:avLst/>
          </a:prstGeom>
          <a:ln w="25400">
            <a:solidFill>
              <a:srgbClr val="697078"/>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4892040" y="2011680"/>
            <a:ext cx="1828800" cy="731520"/>
          </a:xfrm>
          <a:prstGeom prst="roundRect">
            <a:avLst/>
          </a:prstGeom>
          <a:solidFill>
            <a:srgbClr val="EBF4FC"/>
          </a:solidFill>
          <a:ln>
            <a:solidFill>
              <a:srgbClr val="1E509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232830"/>
                </a:solidFill>
              </a:defRPr>
            </a:pPr>
            <a:r>
              <a:t>Identify Query</a:t>
            </a:r>
          </a:p>
        </p:txBody>
      </p:sp>
      <p:cxnSp>
        <p:nvCxnSpPr>
          <p:cNvPr id="9" name="Connector 8"/>
          <p:cNvCxnSpPr/>
          <p:nvPr/>
        </p:nvCxnSpPr>
        <p:spPr>
          <a:xfrm>
            <a:off x="6720840" y="2377440"/>
            <a:ext cx="320040" cy="0"/>
          </a:xfrm>
          <a:prstGeom prst="line">
            <a:avLst/>
          </a:prstGeom>
          <a:ln w="25400">
            <a:solidFill>
              <a:srgbClr val="697078"/>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7040880" y="2011680"/>
            <a:ext cx="1828800" cy="731520"/>
          </a:xfrm>
          <a:prstGeom prst="roundRect">
            <a:avLst/>
          </a:prstGeom>
          <a:solidFill>
            <a:srgbClr val="EBF4FC"/>
          </a:solidFill>
          <a:ln>
            <a:solidFill>
              <a:srgbClr val="1E509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232830"/>
                </a:solidFill>
              </a:defRPr>
            </a:pPr>
            <a:r>
              <a:t>Apply DSA Algorithm</a:t>
            </a:r>
          </a:p>
        </p:txBody>
      </p:sp>
      <p:cxnSp>
        <p:nvCxnSpPr>
          <p:cNvPr id="11" name="Connector 10"/>
          <p:cNvCxnSpPr/>
          <p:nvPr/>
        </p:nvCxnSpPr>
        <p:spPr>
          <a:xfrm>
            <a:off x="8869680" y="2377440"/>
            <a:ext cx="320040" cy="0"/>
          </a:xfrm>
          <a:prstGeom prst="line">
            <a:avLst/>
          </a:prstGeom>
          <a:ln w="25400">
            <a:solidFill>
              <a:srgbClr val="697078"/>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9189720" y="2011680"/>
            <a:ext cx="1828800" cy="731520"/>
          </a:xfrm>
          <a:prstGeom prst="roundRect">
            <a:avLst/>
          </a:prstGeom>
          <a:solidFill>
            <a:srgbClr val="EBF4FC"/>
          </a:solidFill>
          <a:ln>
            <a:solidFill>
              <a:srgbClr val="1E509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232830"/>
                </a:solidFill>
              </a:defRPr>
            </a:pPr>
            <a:r>
              <a:t>Display Results</a:t>
            </a:r>
          </a:p>
        </p:txBody>
      </p:sp>
      <p:sp>
        <p:nvSpPr>
          <p:cNvPr id="13" name="Rounded Rectangle 12"/>
          <p:cNvSpPr/>
          <p:nvPr/>
        </p:nvSpPr>
        <p:spPr>
          <a:xfrm>
            <a:off x="1828800" y="3657600"/>
            <a:ext cx="2743200" cy="685800"/>
          </a:xfrm>
          <a:prstGeom prst="roundRect">
            <a:avLst/>
          </a:prstGeom>
          <a:solidFill>
            <a:srgbClr val="F0FAF4"/>
          </a:solidFill>
          <a:ln>
            <a:solidFill>
              <a:srgbClr val="2D8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232830"/>
                </a:solidFill>
              </a:defRPr>
            </a:pPr>
            <a:r>
              <a:t>Patient ID → HashMap</a:t>
            </a:r>
          </a:p>
        </p:txBody>
      </p:sp>
      <p:sp>
        <p:nvSpPr>
          <p:cNvPr id="14" name="Rounded Rectangle 13"/>
          <p:cNvSpPr/>
          <p:nvPr/>
        </p:nvSpPr>
        <p:spPr>
          <a:xfrm>
            <a:off x="4800600" y="3657600"/>
            <a:ext cx="2743200" cy="685800"/>
          </a:xfrm>
          <a:prstGeom prst="roundRect">
            <a:avLst/>
          </a:prstGeom>
          <a:solidFill>
            <a:srgbClr val="EBF4FC"/>
          </a:solidFill>
          <a:ln>
            <a:solidFill>
              <a:srgbClr val="1E509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232830"/>
                </a:solidFill>
              </a:defRPr>
            </a:pPr>
            <a:r>
              <a:t>Text → KMP / Trie</a:t>
            </a:r>
          </a:p>
        </p:txBody>
      </p:sp>
      <p:sp>
        <p:nvSpPr>
          <p:cNvPr id="15" name="Rounded Rectangle 14"/>
          <p:cNvSpPr/>
          <p:nvPr/>
        </p:nvSpPr>
        <p:spPr>
          <a:xfrm>
            <a:off x="7772400" y="3657600"/>
            <a:ext cx="2926080" cy="685800"/>
          </a:xfrm>
          <a:prstGeom prst="roundRect">
            <a:avLst/>
          </a:prstGeom>
          <a:solidFill>
            <a:srgbClr val="FFF4F4"/>
          </a:solidFill>
          <a:ln>
            <a:solidFill>
              <a:srgbClr val="BE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232830"/>
                </a:solidFill>
              </a:defRPr>
            </a:pPr>
            <a:r>
              <a:t>No Exact Match → Edit Distance</a:t>
            </a:r>
          </a:p>
        </p:txBody>
      </p:sp>
      <p:sp>
        <p:nvSpPr>
          <p:cNvPr id="16" name="TextBox 15"/>
          <p:cNvSpPr txBox="1"/>
          <p:nvPr/>
        </p:nvSpPr>
        <p:spPr>
          <a:xfrm>
            <a:off x="914400" y="4892040"/>
            <a:ext cx="10241280" cy="731520"/>
          </a:xfrm>
          <a:prstGeom prst="rect">
            <a:avLst/>
          </a:prstGeom>
          <a:noFill/>
        </p:spPr>
        <p:txBody>
          <a:bodyPr wrap="square">
            <a:spAutoFit/>
          </a:bodyPr>
          <a:lstStyle/>
          <a:p>
            <a:pPr>
              <a:spcAft>
                <a:spcPts val="1200"/>
              </a:spcAft>
              <a:defRPr sz="1600">
                <a:solidFill>
                  <a:srgbClr val="232830"/>
                </a:solidFill>
                <a:latin typeface="Aptos"/>
              </a:defRPr>
            </a:pPr>
            <a:r>
              <a:t>The flow shows how the user query moves through the appropriate data structure or algorithm before results are displayed.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E50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1064240" cy="594360"/>
          </a:xfrm>
          <a:prstGeom prst="rect">
            <a:avLst/>
          </a:prstGeom>
          <a:noFill/>
        </p:spPr>
        <p:txBody>
          <a:bodyPr wrap="none">
            <a:spAutoFit/>
          </a:bodyPr>
          <a:lstStyle/>
          <a:p>
            <a:pPr>
              <a:defRPr sz="2800" b="1">
                <a:solidFill>
                  <a:srgbClr val="1E5096"/>
                </a:solidFill>
                <a:latin typeface="Aptos Display"/>
              </a:defRPr>
            </a:pPr>
            <a:r>
              <a:t>Pattern Matching – Concept</a:t>
            </a:r>
          </a:p>
        </p:txBody>
      </p:sp>
      <p:sp>
        <p:nvSpPr>
          <p:cNvPr id="4" name="Rounded Rectangle 3"/>
          <p:cNvSpPr/>
          <p:nvPr/>
        </p:nvSpPr>
        <p:spPr>
          <a:xfrm>
            <a:off x="731520" y="1371600"/>
            <a:ext cx="5120640" cy="1371600"/>
          </a:xfrm>
          <a:prstGeom prst="roundRect">
            <a:avLst/>
          </a:prstGeom>
          <a:solidFill>
            <a:srgbClr val="EBF4FC"/>
          </a:solidFill>
          <a:ln>
            <a:solidFill>
              <a:srgbClr val="1E5096"/>
            </a:solidFill>
          </a:ln>
        </p:spPr>
        <p:style>
          <a:lnRef idx="1">
            <a:schemeClr val="accent1"/>
          </a:lnRef>
          <a:fillRef idx="3">
            <a:schemeClr val="accent1"/>
          </a:fillRef>
          <a:effectRef idx="2">
            <a:schemeClr val="accent1"/>
          </a:effectRef>
          <a:fontRef idx="minor">
            <a:schemeClr val="lt1"/>
          </a:fontRef>
        </p:style>
        <p:txBody>
          <a:bodyPr lIns="137160" rIns="137160" rtlCol="0" anchor="ctr"/>
          <a:lstStyle/>
          <a:p>
            <a:pPr algn="ctr">
              <a:defRPr sz="1800" b="1">
                <a:solidFill>
                  <a:srgbClr val="1E5096"/>
                </a:solidFill>
              </a:defRPr>
            </a:pPr>
            <a:r>
              <a:t>Text</a:t>
            </a:r>
          </a:p>
          <a:p>
            <a:pPr>
              <a:defRPr sz="1400">
                <a:solidFill>
                  <a:srgbClr val="232830"/>
                </a:solidFill>
              </a:defRPr>
            </a:pPr>
            <a:r>
              <a:t>Patient has Diabetes Mellitus and is under treatment.</a:t>
            </a:r>
          </a:p>
        </p:txBody>
      </p:sp>
      <p:sp>
        <p:nvSpPr>
          <p:cNvPr id="5" name="Rounded Rectangle 4"/>
          <p:cNvSpPr/>
          <p:nvPr/>
        </p:nvSpPr>
        <p:spPr>
          <a:xfrm>
            <a:off x="731520" y="3063240"/>
            <a:ext cx="5120640" cy="1371600"/>
          </a:xfrm>
          <a:prstGeom prst="roundRect">
            <a:avLst/>
          </a:prstGeom>
          <a:solidFill>
            <a:srgbClr val="EBF4FC"/>
          </a:solidFill>
          <a:ln>
            <a:solidFill>
              <a:srgbClr val="2D8C5A"/>
            </a:solidFill>
          </a:ln>
        </p:spPr>
        <p:style>
          <a:lnRef idx="1">
            <a:schemeClr val="accent1"/>
          </a:lnRef>
          <a:fillRef idx="3">
            <a:schemeClr val="accent1"/>
          </a:fillRef>
          <a:effectRef idx="2">
            <a:schemeClr val="accent1"/>
          </a:effectRef>
          <a:fontRef idx="minor">
            <a:schemeClr val="lt1"/>
          </a:fontRef>
        </p:style>
        <p:txBody>
          <a:bodyPr lIns="137160" rIns="137160" rtlCol="0" anchor="ctr"/>
          <a:lstStyle/>
          <a:p>
            <a:pPr algn="ctr">
              <a:defRPr sz="1800" b="1">
                <a:solidFill>
                  <a:srgbClr val="2D8C5A"/>
                </a:solidFill>
              </a:defRPr>
            </a:pPr>
            <a:r>
              <a:t>Pattern</a:t>
            </a:r>
          </a:p>
          <a:p>
            <a:pPr>
              <a:defRPr sz="1400">
                <a:solidFill>
                  <a:srgbClr val="232830"/>
                </a:solidFill>
              </a:defRPr>
            </a:pPr>
            <a:r>
              <a:t>Diabetes</a:t>
            </a:r>
          </a:p>
        </p:txBody>
      </p:sp>
      <p:cxnSp>
        <p:nvCxnSpPr>
          <p:cNvPr id="6" name="Connector 5"/>
          <p:cNvCxnSpPr/>
          <p:nvPr/>
        </p:nvCxnSpPr>
        <p:spPr>
          <a:xfrm>
            <a:off x="6126480" y="2057400"/>
            <a:ext cx="1188720" cy="0"/>
          </a:xfrm>
          <a:prstGeom prst="line">
            <a:avLst/>
          </a:prstGeom>
          <a:ln w="25400">
            <a:solidFill>
              <a:srgbClr val="697078"/>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7406640" y="1691640"/>
            <a:ext cx="1554480" cy="731520"/>
          </a:xfrm>
          <a:prstGeom prst="roundRect">
            <a:avLst/>
          </a:prstGeom>
          <a:solidFill>
            <a:srgbClr val="FFF4F4"/>
          </a:solidFill>
          <a:ln>
            <a:solidFill>
              <a:srgbClr val="BE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232830"/>
                </a:solidFill>
              </a:defRPr>
            </a:pPr>
            <a:r>
              <a:t>KMP</a:t>
            </a:r>
          </a:p>
        </p:txBody>
      </p:sp>
      <p:cxnSp>
        <p:nvCxnSpPr>
          <p:cNvPr id="8" name="Connector 7"/>
          <p:cNvCxnSpPr/>
          <p:nvPr/>
        </p:nvCxnSpPr>
        <p:spPr>
          <a:xfrm>
            <a:off x="9052560" y="2057400"/>
            <a:ext cx="1188720" cy="0"/>
          </a:xfrm>
          <a:prstGeom prst="line">
            <a:avLst/>
          </a:prstGeom>
          <a:ln w="25400">
            <a:solidFill>
              <a:srgbClr val="697078"/>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9692640" y="2743200"/>
            <a:ext cx="1920240" cy="731520"/>
          </a:xfrm>
          <a:prstGeom prst="roundRect">
            <a:avLst/>
          </a:prstGeom>
          <a:solidFill>
            <a:srgbClr val="F0FAF4"/>
          </a:solidFill>
          <a:ln>
            <a:solidFill>
              <a:srgbClr val="2D8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232830"/>
                </a:solidFill>
              </a:defRPr>
            </a:pPr>
            <a:r>
              <a:t>Pattern Found ✓</a:t>
            </a:r>
          </a:p>
        </p:txBody>
      </p:sp>
      <p:sp>
        <p:nvSpPr>
          <p:cNvPr id="10" name="TextBox 9"/>
          <p:cNvSpPr txBox="1"/>
          <p:nvPr/>
        </p:nvSpPr>
        <p:spPr>
          <a:xfrm>
            <a:off x="6035040" y="3886200"/>
            <a:ext cx="5212080" cy="1645920"/>
          </a:xfrm>
          <a:prstGeom prst="rect">
            <a:avLst/>
          </a:prstGeom>
          <a:noFill/>
        </p:spPr>
        <p:txBody>
          <a:bodyPr wrap="square">
            <a:spAutoFit/>
          </a:bodyPr>
          <a:lstStyle/>
          <a:p>
            <a:pPr>
              <a:spcAft>
                <a:spcPts val="1200"/>
              </a:spcAft>
              <a:defRPr sz="1600">
                <a:solidFill>
                  <a:srgbClr val="232830"/>
                </a:solidFill>
                <a:latin typeface="Aptos"/>
              </a:defRPr>
            </a:pPr>
            <a:r>
              <a:t>Pattern matching means finding a smaller string (pattern) inside a larger string (text).</a:t>
            </a:r>
          </a:p>
          <a:p>
            <a:pPr>
              <a:spcAft>
                <a:spcPts val="1200"/>
              </a:spcAft>
              <a:defRPr sz="1600">
                <a:solidFill>
                  <a:srgbClr val="232830"/>
                </a:solidFill>
                <a:latin typeface="Aptos"/>
              </a:defRPr>
            </a:pPr>
            <a:r>
              <a:t>In MediSearch, KMP can be used to find diseases, symptoms, medicines, or diagnosis terms inside patient records.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E50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1064240" cy="594360"/>
          </a:xfrm>
          <a:prstGeom prst="rect">
            <a:avLst/>
          </a:prstGeom>
          <a:noFill/>
        </p:spPr>
        <p:txBody>
          <a:bodyPr wrap="none">
            <a:spAutoFit/>
          </a:bodyPr>
          <a:lstStyle/>
          <a:p>
            <a:pPr>
              <a:defRPr sz="2800" b="1">
                <a:solidFill>
                  <a:srgbClr val="1E5096"/>
                </a:solidFill>
                <a:latin typeface="Aptos Display"/>
              </a:defRPr>
            </a:pPr>
            <a:r>
              <a:t>KMP Pattern Matching – Execution</a:t>
            </a:r>
          </a:p>
        </p:txBody>
      </p:sp>
      <p:sp>
        <p:nvSpPr>
          <p:cNvPr id="4" name="Rounded Rectangle 3"/>
          <p:cNvSpPr/>
          <p:nvPr/>
        </p:nvSpPr>
        <p:spPr>
          <a:xfrm>
            <a:off x="594360" y="1234440"/>
            <a:ext cx="5394960" cy="1005840"/>
          </a:xfrm>
          <a:prstGeom prst="roundRect">
            <a:avLst/>
          </a:prstGeom>
          <a:solidFill>
            <a:srgbClr val="EBF4FC"/>
          </a:solidFill>
          <a:ln>
            <a:solidFill>
              <a:srgbClr val="1E5096"/>
            </a:solidFill>
          </a:ln>
        </p:spPr>
        <p:style>
          <a:lnRef idx="1">
            <a:schemeClr val="accent1"/>
          </a:lnRef>
          <a:fillRef idx="3">
            <a:schemeClr val="accent1"/>
          </a:fillRef>
          <a:effectRef idx="2">
            <a:schemeClr val="accent1"/>
          </a:effectRef>
          <a:fontRef idx="minor">
            <a:schemeClr val="lt1"/>
          </a:fontRef>
        </p:style>
        <p:txBody>
          <a:bodyPr lIns="137160" rIns="137160" rtlCol="0" anchor="ctr"/>
          <a:lstStyle/>
          <a:p>
            <a:pPr algn="ctr">
              <a:defRPr sz="1800" b="1">
                <a:solidFill>
                  <a:srgbClr val="1E5096"/>
                </a:solidFill>
              </a:defRPr>
            </a:pPr>
            <a:r>
              <a:t>Text</a:t>
            </a:r>
          </a:p>
          <a:p>
            <a:pPr>
              <a:defRPr sz="1400">
                <a:solidFill>
                  <a:srgbClr val="232830"/>
                </a:solidFill>
              </a:defRPr>
            </a:pPr>
            <a:r>
              <a:t>ABABDABACDABABCABAB</a:t>
            </a:r>
          </a:p>
        </p:txBody>
      </p:sp>
      <p:sp>
        <p:nvSpPr>
          <p:cNvPr id="5" name="Rounded Rectangle 4"/>
          <p:cNvSpPr/>
          <p:nvPr/>
        </p:nvSpPr>
        <p:spPr>
          <a:xfrm>
            <a:off x="594360" y="2468880"/>
            <a:ext cx="5394960" cy="1005840"/>
          </a:xfrm>
          <a:prstGeom prst="roundRect">
            <a:avLst/>
          </a:prstGeom>
          <a:solidFill>
            <a:srgbClr val="EBF4FC"/>
          </a:solidFill>
          <a:ln>
            <a:solidFill>
              <a:srgbClr val="2D8C5A"/>
            </a:solidFill>
          </a:ln>
        </p:spPr>
        <p:style>
          <a:lnRef idx="1">
            <a:schemeClr val="accent1"/>
          </a:lnRef>
          <a:fillRef idx="3">
            <a:schemeClr val="accent1"/>
          </a:fillRef>
          <a:effectRef idx="2">
            <a:schemeClr val="accent1"/>
          </a:effectRef>
          <a:fontRef idx="minor">
            <a:schemeClr val="lt1"/>
          </a:fontRef>
        </p:style>
        <p:txBody>
          <a:bodyPr lIns="137160" rIns="137160" rtlCol="0" anchor="ctr"/>
          <a:lstStyle/>
          <a:p>
            <a:pPr algn="ctr">
              <a:defRPr sz="1800" b="1">
                <a:solidFill>
                  <a:srgbClr val="2D8C5A"/>
                </a:solidFill>
              </a:defRPr>
            </a:pPr>
            <a:r>
              <a:t>Pattern</a:t>
            </a:r>
          </a:p>
          <a:p>
            <a:pPr>
              <a:defRPr sz="1400">
                <a:solidFill>
                  <a:srgbClr val="232830"/>
                </a:solidFill>
              </a:defRPr>
            </a:pPr>
            <a:r>
              <a:t>ABABCABAB</a:t>
            </a:r>
          </a:p>
        </p:txBody>
      </p:sp>
      <p:sp>
        <p:nvSpPr>
          <p:cNvPr id="6" name="Rounded Rectangle 5"/>
          <p:cNvSpPr/>
          <p:nvPr/>
        </p:nvSpPr>
        <p:spPr>
          <a:xfrm>
            <a:off x="594360" y="3703320"/>
            <a:ext cx="5394960" cy="1005840"/>
          </a:xfrm>
          <a:prstGeom prst="roundRect">
            <a:avLst/>
          </a:prstGeom>
          <a:solidFill>
            <a:srgbClr val="EBF4FC"/>
          </a:solidFill>
          <a:ln>
            <a:solidFill>
              <a:srgbClr val="BE4646"/>
            </a:solidFill>
          </a:ln>
        </p:spPr>
        <p:style>
          <a:lnRef idx="1">
            <a:schemeClr val="accent1"/>
          </a:lnRef>
          <a:fillRef idx="3">
            <a:schemeClr val="accent1"/>
          </a:fillRef>
          <a:effectRef idx="2">
            <a:schemeClr val="accent1"/>
          </a:effectRef>
          <a:fontRef idx="minor">
            <a:schemeClr val="lt1"/>
          </a:fontRef>
        </p:style>
        <p:txBody>
          <a:bodyPr lIns="137160" rIns="137160" rtlCol="0" anchor="ctr"/>
          <a:lstStyle/>
          <a:p>
            <a:pPr algn="ctr">
              <a:defRPr sz="1800" b="1">
                <a:solidFill>
                  <a:srgbClr val="BE4646"/>
                </a:solidFill>
              </a:defRPr>
            </a:pPr>
            <a:r>
              <a:t>LPS Array</a:t>
            </a:r>
          </a:p>
          <a:p>
            <a:pPr>
              <a:defRPr sz="1400">
                <a:solidFill>
                  <a:srgbClr val="232830"/>
                </a:solidFill>
              </a:defRPr>
            </a:pPr>
            <a:r>
              <a:t>0  0  1  2  0  1  2  3  4</a:t>
            </a:r>
          </a:p>
        </p:txBody>
      </p:sp>
      <p:sp>
        <p:nvSpPr>
          <p:cNvPr id="7" name="Rounded Rectangle 6"/>
          <p:cNvSpPr/>
          <p:nvPr/>
        </p:nvSpPr>
        <p:spPr>
          <a:xfrm>
            <a:off x="6355080" y="1234440"/>
            <a:ext cx="5074920" cy="1828800"/>
          </a:xfrm>
          <a:prstGeom prst="roundRect">
            <a:avLst/>
          </a:prstGeom>
          <a:solidFill>
            <a:srgbClr val="EBF4FC"/>
          </a:solidFill>
          <a:ln>
            <a:solidFill>
              <a:srgbClr val="1E5096"/>
            </a:solidFill>
          </a:ln>
        </p:spPr>
        <p:style>
          <a:lnRef idx="1">
            <a:schemeClr val="accent1"/>
          </a:lnRef>
          <a:fillRef idx="3">
            <a:schemeClr val="accent1"/>
          </a:fillRef>
          <a:effectRef idx="2">
            <a:schemeClr val="accent1"/>
          </a:effectRef>
          <a:fontRef idx="minor">
            <a:schemeClr val="lt1"/>
          </a:fontRef>
        </p:style>
        <p:txBody>
          <a:bodyPr lIns="137160" rIns="137160" rtlCol="0" anchor="ctr"/>
          <a:lstStyle/>
          <a:p>
            <a:pPr algn="ctr">
              <a:defRPr sz="1800" b="1">
                <a:solidFill>
                  <a:srgbClr val="1E5096"/>
                </a:solidFill>
              </a:defRPr>
            </a:pPr>
            <a:r>
              <a:t>What happens?</a:t>
            </a:r>
          </a:p>
          <a:p>
            <a:pPr>
              <a:defRPr sz="1400">
                <a:solidFill>
                  <a:srgbClr val="232830"/>
                </a:solidFill>
              </a:defRPr>
            </a:pPr>
            <a:r>
              <a:t>KMP compares the pattern with the text. When a mismatch occurs, it uses the LPS array to avoid restarting from the beginning.</a:t>
            </a:r>
          </a:p>
        </p:txBody>
      </p:sp>
      <p:sp>
        <p:nvSpPr>
          <p:cNvPr id="8" name="Rounded Rectangle 7"/>
          <p:cNvSpPr/>
          <p:nvPr/>
        </p:nvSpPr>
        <p:spPr>
          <a:xfrm>
            <a:off x="6355080" y="3337560"/>
            <a:ext cx="5074920" cy="1325880"/>
          </a:xfrm>
          <a:prstGeom prst="roundRect">
            <a:avLst/>
          </a:prstGeom>
          <a:solidFill>
            <a:srgbClr val="EBF4FC"/>
          </a:solidFill>
          <a:ln>
            <a:solidFill>
              <a:srgbClr val="2D8C5A"/>
            </a:solidFill>
          </a:ln>
        </p:spPr>
        <p:style>
          <a:lnRef idx="1">
            <a:schemeClr val="accent1"/>
          </a:lnRef>
          <a:fillRef idx="3">
            <a:schemeClr val="accent1"/>
          </a:fillRef>
          <a:effectRef idx="2">
            <a:schemeClr val="accent1"/>
          </a:effectRef>
          <a:fontRef idx="minor">
            <a:schemeClr val="lt1"/>
          </a:fontRef>
        </p:style>
        <p:txBody>
          <a:bodyPr lIns="137160" rIns="137160" rtlCol="0" anchor="ctr"/>
          <a:lstStyle/>
          <a:p>
            <a:pPr algn="ctr">
              <a:defRPr sz="1800" b="1">
                <a:solidFill>
                  <a:srgbClr val="2D8C5A"/>
                </a:solidFill>
              </a:defRPr>
            </a:pPr>
            <a:r>
              <a:t>Result</a:t>
            </a:r>
          </a:p>
          <a:p>
            <a:pPr>
              <a:defRPr sz="1400">
                <a:solidFill>
                  <a:srgbClr val="232830"/>
                </a:solidFill>
              </a:defRPr>
            </a:pPr>
            <a:r>
              <a:t>Pattern found at index 10.</a:t>
            </a:r>
          </a:p>
        </p:txBody>
      </p:sp>
      <p:sp>
        <p:nvSpPr>
          <p:cNvPr id="9" name="TextBox 8"/>
          <p:cNvSpPr txBox="1"/>
          <p:nvPr/>
        </p:nvSpPr>
        <p:spPr>
          <a:xfrm>
            <a:off x="6400800" y="4892040"/>
            <a:ext cx="4937760" cy="914400"/>
          </a:xfrm>
          <a:prstGeom prst="rect">
            <a:avLst/>
          </a:prstGeom>
          <a:noFill/>
        </p:spPr>
        <p:txBody>
          <a:bodyPr wrap="square">
            <a:spAutoFit/>
          </a:bodyPr>
          <a:lstStyle/>
          <a:p>
            <a:pPr>
              <a:spcAft>
                <a:spcPts val="1200"/>
              </a:spcAft>
              <a:defRPr sz="1500">
                <a:solidFill>
                  <a:srgbClr val="232830"/>
                </a:solidFill>
                <a:latin typeface="Aptos"/>
              </a:defRPr>
            </a:pPr>
            <a:r>
              <a:t>Time complexity: O(n + m)</a:t>
            </a:r>
          </a:p>
          <a:p>
            <a:pPr>
              <a:spcAft>
                <a:spcPts val="1200"/>
              </a:spcAft>
              <a:defRPr sz="1500">
                <a:solidFill>
                  <a:srgbClr val="232830"/>
                </a:solidFill>
                <a:latin typeface="Aptos"/>
              </a:defRPr>
            </a:pPr>
            <a:r>
              <a:t>Key idea: reuse previously matched information instead of repeating unnecessary comparisons.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E50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1064240" cy="594360"/>
          </a:xfrm>
          <a:prstGeom prst="rect">
            <a:avLst/>
          </a:prstGeom>
          <a:noFill/>
        </p:spPr>
        <p:txBody>
          <a:bodyPr wrap="none">
            <a:spAutoFit/>
          </a:bodyPr>
          <a:lstStyle/>
          <a:p>
            <a:pPr>
              <a:defRPr sz="2800" b="1">
                <a:solidFill>
                  <a:srgbClr val="1E5096"/>
                </a:solidFill>
                <a:latin typeface="Aptos Display"/>
              </a:defRPr>
            </a:pPr>
            <a:r>
              <a:t>KMP Execution in MediSearch</a:t>
            </a:r>
          </a:p>
        </p:txBody>
      </p:sp>
      <p:sp>
        <p:nvSpPr>
          <p:cNvPr id="4" name="Rounded Rectangle 3"/>
          <p:cNvSpPr/>
          <p:nvPr/>
        </p:nvSpPr>
        <p:spPr>
          <a:xfrm>
            <a:off x="685800" y="1325880"/>
            <a:ext cx="4754880" cy="777240"/>
          </a:xfrm>
          <a:prstGeom prst="roundRect">
            <a:avLst/>
          </a:prstGeom>
          <a:solidFill>
            <a:srgbClr val="EBF4FC"/>
          </a:solidFill>
          <a:ln>
            <a:solidFill>
              <a:srgbClr val="1E509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232830"/>
                </a:solidFill>
              </a:defRPr>
            </a:pPr>
            <a:r>
              <a:t>Patient record: "Patient has Diabetes Mellitus"</a:t>
            </a:r>
          </a:p>
        </p:txBody>
      </p:sp>
      <p:cxnSp>
        <p:nvCxnSpPr>
          <p:cNvPr id="5" name="Connector 4"/>
          <p:cNvCxnSpPr/>
          <p:nvPr/>
        </p:nvCxnSpPr>
        <p:spPr>
          <a:xfrm>
            <a:off x="5577840" y="1719072"/>
            <a:ext cx="914400" cy="0"/>
          </a:xfrm>
          <a:prstGeom prst="line">
            <a:avLst/>
          </a:prstGeom>
          <a:ln w="25400">
            <a:solidFill>
              <a:srgbClr val="697078"/>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583680" y="1325880"/>
            <a:ext cx="2286000" cy="777240"/>
          </a:xfrm>
          <a:prstGeom prst="roundRect">
            <a:avLst/>
          </a:prstGeom>
          <a:solidFill>
            <a:srgbClr val="F0FAF4"/>
          </a:solidFill>
          <a:ln>
            <a:solidFill>
              <a:srgbClr val="2D8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232830"/>
                </a:solidFill>
              </a:defRPr>
            </a:pPr>
            <a:r>
              <a:t>Search: "Diabetes"</a:t>
            </a:r>
          </a:p>
        </p:txBody>
      </p:sp>
      <p:cxnSp>
        <p:nvCxnSpPr>
          <p:cNvPr id="7" name="Connector 6"/>
          <p:cNvCxnSpPr/>
          <p:nvPr/>
        </p:nvCxnSpPr>
        <p:spPr>
          <a:xfrm>
            <a:off x="7726679" y="2240280"/>
            <a:ext cx="0" cy="731520"/>
          </a:xfrm>
          <a:prstGeom prst="line">
            <a:avLst/>
          </a:prstGeom>
          <a:ln w="25400">
            <a:solidFill>
              <a:srgbClr val="697078"/>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309360" y="2971800"/>
            <a:ext cx="2834640" cy="777240"/>
          </a:xfrm>
          <a:prstGeom prst="roundRect">
            <a:avLst/>
          </a:prstGeom>
          <a:solidFill>
            <a:srgbClr val="FFF4F4"/>
          </a:solidFill>
          <a:ln>
            <a:solidFill>
              <a:srgbClr val="BE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232830"/>
                </a:solidFill>
              </a:defRPr>
            </a:pPr>
            <a:r>
              <a:t>KMP Pattern Matching</a:t>
            </a:r>
          </a:p>
        </p:txBody>
      </p:sp>
      <p:cxnSp>
        <p:nvCxnSpPr>
          <p:cNvPr id="9" name="Connector 8"/>
          <p:cNvCxnSpPr/>
          <p:nvPr/>
        </p:nvCxnSpPr>
        <p:spPr>
          <a:xfrm>
            <a:off x="7726679" y="3794760"/>
            <a:ext cx="0" cy="731520"/>
          </a:xfrm>
          <a:prstGeom prst="line">
            <a:avLst/>
          </a:prstGeom>
          <a:ln w="25400">
            <a:solidFill>
              <a:srgbClr val="697078"/>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492240" y="4526280"/>
            <a:ext cx="2468880" cy="777240"/>
          </a:xfrm>
          <a:prstGeom prst="roundRect">
            <a:avLst/>
          </a:prstGeom>
          <a:solidFill>
            <a:srgbClr val="F0FAF4"/>
          </a:solidFill>
          <a:ln>
            <a:solidFill>
              <a:srgbClr val="2D8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232830"/>
                </a:solidFill>
              </a:defRPr>
            </a:pPr>
            <a:r>
              <a:t>Match Found ✓</a:t>
            </a:r>
          </a:p>
        </p:txBody>
      </p:sp>
      <p:sp>
        <p:nvSpPr>
          <p:cNvPr id="11" name="TextBox 10"/>
          <p:cNvSpPr txBox="1"/>
          <p:nvPr/>
        </p:nvSpPr>
        <p:spPr>
          <a:xfrm>
            <a:off x="822960" y="5166360"/>
            <a:ext cx="10515600" cy="640080"/>
          </a:xfrm>
          <a:prstGeom prst="rect">
            <a:avLst/>
          </a:prstGeom>
          <a:noFill/>
        </p:spPr>
        <p:txBody>
          <a:bodyPr wrap="square">
            <a:spAutoFit/>
          </a:bodyPr>
          <a:lstStyle/>
          <a:p>
            <a:pPr>
              <a:spcAft>
                <a:spcPts val="1200"/>
              </a:spcAft>
              <a:defRPr sz="1600">
                <a:solidFill>
                  <a:srgbClr val="232830"/>
                </a:solidFill>
                <a:latin typeface="Aptos"/>
              </a:defRPr>
            </a:pPr>
            <a:r>
              <a:t>The same process can be applied to search diseases, symptoms, medicines, and diagnosis terms in patient records.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E50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1064240" cy="594360"/>
          </a:xfrm>
          <a:prstGeom prst="rect">
            <a:avLst/>
          </a:prstGeom>
          <a:noFill/>
        </p:spPr>
        <p:txBody>
          <a:bodyPr wrap="none">
            <a:spAutoFit/>
          </a:bodyPr>
          <a:lstStyle/>
          <a:p>
            <a:pPr>
              <a:defRPr sz="2800" b="1">
                <a:solidFill>
                  <a:srgbClr val="1E5096"/>
                </a:solidFill>
                <a:latin typeface="Aptos Display"/>
              </a:defRPr>
            </a:pPr>
            <a:r>
              <a:t>Fuzzy Matching – Concept</a:t>
            </a:r>
          </a:p>
        </p:txBody>
      </p:sp>
      <p:sp>
        <p:nvSpPr>
          <p:cNvPr id="4" name="Rounded Rectangle 3"/>
          <p:cNvSpPr/>
          <p:nvPr/>
        </p:nvSpPr>
        <p:spPr>
          <a:xfrm>
            <a:off x="685800" y="1417320"/>
            <a:ext cx="2834640" cy="777240"/>
          </a:xfrm>
          <a:prstGeom prst="roundRect">
            <a:avLst/>
          </a:prstGeom>
          <a:solidFill>
            <a:srgbClr val="EBF4FC"/>
          </a:solidFill>
          <a:ln>
            <a:solidFill>
              <a:srgbClr val="1E509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232830"/>
                </a:solidFill>
              </a:defRPr>
            </a:pPr>
            <a:r>
              <a:t>User enters: "Diabets"</a:t>
            </a:r>
          </a:p>
        </p:txBody>
      </p:sp>
      <p:cxnSp>
        <p:nvCxnSpPr>
          <p:cNvPr id="5" name="Connector 4"/>
          <p:cNvCxnSpPr/>
          <p:nvPr/>
        </p:nvCxnSpPr>
        <p:spPr>
          <a:xfrm>
            <a:off x="3566160" y="1810512"/>
            <a:ext cx="1005840" cy="0"/>
          </a:xfrm>
          <a:prstGeom prst="line">
            <a:avLst/>
          </a:prstGeom>
          <a:ln w="25400">
            <a:solidFill>
              <a:srgbClr val="697078"/>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4617720" y="1417320"/>
            <a:ext cx="2286000" cy="777240"/>
          </a:xfrm>
          <a:prstGeom prst="roundRect">
            <a:avLst/>
          </a:prstGeom>
          <a:solidFill>
            <a:srgbClr val="FFF4F4"/>
          </a:solidFill>
          <a:ln>
            <a:solidFill>
              <a:srgbClr val="BE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232830"/>
                </a:solidFill>
              </a:defRPr>
            </a:pPr>
            <a:r>
              <a:t>No exact match</a:t>
            </a:r>
          </a:p>
        </p:txBody>
      </p:sp>
      <p:cxnSp>
        <p:nvCxnSpPr>
          <p:cNvPr id="7" name="Connector 6"/>
          <p:cNvCxnSpPr/>
          <p:nvPr/>
        </p:nvCxnSpPr>
        <p:spPr>
          <a:xfrm>
            <a:off x="6949440" y="1810512"/>
            <a:ext cx="960120" cy="0"/>
          </a:xfrm>
          <a:prstGeom prst="line">
            <a:avLst/>
          </a:prstGeom>
          <a:ln w="25400">
            <a:solidFill>
              <a:srgbClr val="697078"/>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7955279" y="1417320"/>
            <a:ext cx="2194560" cy="777240"/>
          </a:xfrm>
          <a:prstGeom prst="roundRect">
            <a:avLst/>
          </a:prstGeom>
          <a:solidFill>
            <a:srgbClr val="EBF4FC"/>
          </a:solidFill>
          <a:ln>
            <a:solidFill>
              <a:srgbClr val="1E509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232830"/>
                </a:solidFill>
              </a:defRPr>
            </a:pPr>
            <a:r>
              <a:t>Edit Distance</a:t>
            </a:r>
          </a:p>
        </p:txBody>
      </p:sp>
      <p:cxnSp>
        <p:nvCxnSpPr>
          <p:cNvPr id="9" name="Connector 8"/>
          <p:cNvCxnSpPr/>
          <p:nvPr/>
        </p:nvCxnSpPr>
        <p:spPr>
          <a:xfrm>
            <a:off x="9052560" y="2286000"/>
            <a:ext cx="0" cy="822960"/>
          </a:xfrm>
          <a:prstGeom prst="line">
            <a:avLst/>
          </a:prstGeom>
          <a:ln w="25400">
            <a:solidFill>
              <a:srgbClr val="697078"/>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7772400" y="3108960"/>
            <a:ext cx="2560320" cy="777240"/>
          </a:xfrm>
          <a:prstGeom prst="roundRect">
            <a:avLst/>
          </a:prstGeom>
          <a:solidFill>
            <a:srgbClr val="F0FAF4"/>
          </a:solidFill>
          <a:ln>
            <a:solidFill>
              <a:srgbClr val="2D8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232830"/>
                </a:solidFill>
              </a:defRPr>
            </a:pPr>
            <a:r>
              <a:t>Compare: "Diabetes"</a:t>
            </a:r>
          </a:p>
        </p:txBody>
      </p:sp>
      <p:cxnSp>
        <p:nvCxnSpPr>
          <p:cNvPr id="11" name="Connector 10"/>
          <p:cNvCxnSpPr/>
          <p:nvPr/>
        </p:nvCxnSpPr>
        <p:spPr>
          <a:xfrm>
            <a:off x="9052560" y="3931920"/>
            <a:ext cx="0" cy="822960"/>
          </a:xfrm>
          <a:prstGeom prst="line">
            <a:avLst/>
          </a:prstGeom>
          <a:ln w="25400">
            <a:solidFill>
              <a:srgbClr val="697078"/>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046720" y="4754880"/>
            <a:ext cx="2011680" cy="685800"/>
          </a:xfrm>
          <a:prstGeom prst="roundRect">
            <a:avLst/>
          </a:prstGeom>
          <a:solidFill>
            <a:srgbClr val="F0FAF4"/>
          </a:solidFill>
          <a:ln>
            <a:solidFill>
              <a:srgbClr val="2D8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232830"/>
                </a:solidFill>
              </a:defRPr>
            </a:pPr>
            <a:r>
              <a:t>Distance = 1</a:t>
            </a:r>
          </a:p>
        </p:txBody>
      </p:sp>
      <p:sp>
        <p:nvSpPr>
          <p:cNvPr id="13" name="Rounded Rectangle 12"/>
          <p:cNvSpPr/>
          <p:nvPr/>
        </p:nvSpPr>
        <p:spPr>
          <a:xfrm>
            <a:off x="822960" y="3063240"/>
            <a:ext cx="5212080" cy="2286000"/>
          </a:xfrm>
          <a:prstGeom prst="roundRect">
            <a:avLst/>
          </a:prstGeom>
          <a:solidFill>
            <a:srgbClr val="EBF4FC"/>
          </a:solidFill>
          <a:ln>
            <a:solidFill>
              <a:srgbClr val="2D8C5A"/>
            </a:solidFill>
          </a:ln>
        </p:spPr>
        <p:style>
          <a:lnRef idx="1">
            <a:schemeClr val="accent1"/>
          </a:lnRef>
          <a:fillRef idx="3">
            <a:schemeClr val="accent1"/>
          </a:fillRef>
          <a:effectRef idx="2">
            <a:schemeClr val="accent1"/>
          </a:effectRef>
          <a:fontRef idx="minor">
            <a:schemeClr val="lt1"/>
          </a:fontRef>
        </p:style>
        <p:txBody>
          <a:bodyPr lIns="137160" rIns="137160" rtlCol="0" anchor="ctr"/>
          <a:lstStyle/>
          <a:p>
            <a:pPr algn="ctr">
              <a:defRPr sz="1800" b="1">
                <a:solidFill>
                  <a:srgbClr val="2D8C5A"/>
                </a:solidFill>
              </a:defRPr>
            </a:pPr>
            <a:r>
              <a:t>Output</a:t>
            </a:r>
          </a:p>
          <a:p>
            <a:pPr>
              <a:defRPr sz="1400">
                <a:solidFill>
                  <a:srgbClr val="232830"/>
                </a:solidFill>
              </a:defRPr>
            </a:pPr>
            <a:r>
              <a:t>Did you mean "Diabetes"?</a:t>
            </a:r>
            <a:br/>
            <a:br/>
            <a:r>
              <a:t>One insertion is enough to transform "Diabets" into "Diabetes".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E50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1064240" cy="594360"/>
          </a:xfrm>
          <a:prstGeom prst="rect">
            <a:avLst/>
          </a:prstGeom>
          <a:noFill/>
        </p:spPr>
        <p:txBody>
          <a:bodyPr wrap="none">
            <a:spAutoFit/>
          </a:bodyPr>
          <a:lstStyle/>
          <a:p>
            <a:pPr>
              <a:defRPr sz="2800" b="1">
                <a:solidFill>
                  <a:srgbClr val="1E5096"/>
                </a:solidFill>
                <a:latin typeface="Aptos Display"/>
              </a:defRPr>
            </a:pPr>
            <a:r>
              <a:t>Edit Distance – Dynamic Programming</a:t>
            </a:r>
          </a:p>
        </p:txBody>
      </p:sp>
      <p:sp>
        <p:nvSpPr>
          <p:cNvPr id="4" name="Rounded Rectangle 3"/>
          <p:cNvSpPr/>
          <p:nvPr/>
        </p:nvSpPr>
        <p:spPr>
          <a:xfrm>
            <a:off x="640080" y="1325880"/>
            <a:ext cx="3291840" cy="1234440"/>
          </a:xfrm>
          <a:prstGeom prst="roundRect">
            <a:avLst/>
          </a:prstGeom>
          <a:solidFill>
            <a:srgbClr val="EBF4FC"/>
          </a:solidFill>
          <a:ln>
            <a:solidFill>
              <a:srgbClr val="1E5096"/>
            </a:solidFill>
          </a:ln>
        </p:spPr>
        <p:style>
          <a:lnRef idx="1">
            <a:schemeClr val="accent1"/>
          </a:lnRef>
          <a:fillRef idx="3">
            <a:schemeClr val="accent1"/>
          </a:fillRef>
          <a:effectRef idx="2">
            <a:schemeClr val="accent1"/>
          </a:effectRef>
          <a:fontRef idx="minor">
            <a:schemeClr val="lt1"/>
          </a:fontRef>
        </p:style>
        <p:txBody>
          <a:bodyPr lIns="137160" rIns="137160" rtlCol="0" anchor="ctr"/>
          <a:lstStyle/>
          <a:p>
            <a:pPr algn="ctr">
              <a:defRPr sz="1800" b="1">
                <a:solidFill>
                  <a:srgbClr val="1E5096"/>
                </a:solidFill>
              </a:defRPr>
            </a:pPr>
            <a:r>
              <a:t>Insertion</a:t>
            </a:r>
          </a:p>
          <a:p>
            <a:pPr>
              <a:defRPr sz="1400">
                <a:solidFill>
                  <a:srgbClr val="232830"/>
                </a:solidFill>
              </a:defRPr>
            </a:pPr>
            <a:r>
              <a:t>Add a character</a:t>
            </a:r>
          </a:p>
        </p:txBody>
      </p:sp>
      <p:sp>
        <p:nvSpPr>
          <p:cNvPr id="5" name="Rounded Rectangle 4"/>
          <p:cNvSpPr/>
          <p:nvPr/>
        </p:nvSpPr>
        <p:spPr>
          <a:xfrm>
            <a:off x="640080" y="2788920"/>
            <a:ext cx="3291840" cy="1234440"/>
          </a:xfrm>
          <a:prstGeom prst="roundRect">
            <a:avLst/>
          </a:prstGeom>
          <a:solidFill>
            <a:srgbClr val="EBF4FC"/>
          </a:solidFill>
          <a:ln>
            <a:solidFill>
              <a:srgbClr val="2D8C5A"/>
            </a:solidFill>
          </a:ln>
        </p:spPr>
        <p:style>
          <a:lnRef idx="1">
            <a:schemeClr val="accent1"/>
          </a:lnRef>
          <a:fillRef idx="3">
            <a:schemeClr val="accent1"/>
          </a:fillRef>
          <a:effectRef idx="2">
            <a:schemeClr val="accent1"/>
          </a:effectRef>
          <a:fontRef idx="minor">
            <a:schemeClr val="lt1"/>
          </a:fontRef>
        </p:style>
        <p:txBody>
          <a:bodyPr lIns="137160" rIns="137160" rtlCol="0" anchor="ctr"/>
          <a:lstStyle/>
          <a:p>
            <a:pPr algn="ctr">
              <a:defRPr sz="1800" b="1">
                <a:solidFill>
                  <a:srgbClr val="2D8C5A"/>
                </a:solidFill>
              </a:defRPr>
            </a:pPr>
            <a:r>
              <a:t>Deletion</a:t>
            </a:r>
          </a:p>
          <a:p>
            <a:pPr>
              <a:defRPr sz="1400">
                <a:solidFill>
                  <a:srgbClr val="232830"/>
                </a:solidFill>
              </a:defRPr>
            </a:pPr>
            <a:r>
              <a:t>Remove a character</a:t>
            </a:r>
          </a:p>
        </p:txBody>
      </p:sp>
      <p:sp>
        <p:nvSpPr>
          <p:cNvPr id="6" name="Rounded Rectangle 5"/>
          <p:cNvSpPr/>
          <p:nvPr/>
        </p:nvSpPr>
        <p:spPr>
          <a:xfrm>
            <a:off x="640080" y="4251960"/>
            <a:ext cx="3291840" cy="1234440"/>
          </a:xfrm>
          <a:prstGeom prst="roundRect">
            <a:avLst/>
          </a:prstGeom>
          <a:solidFill>
            <a:srgbClr val="EBF4FC"/>
          </a:solidFill>
          <a:ln>
            <a:solidFill>
              <a:srgbClr val="BE4646"/>
            </a:solidFill>
          </a:ln>
        </p:spPr>
        <p:style>
          <a:lnRef idx="1">
            <a:schemeClr val="accent1"/>
          </a:lnRef>
          <a:fillRef idx="3">
            <a:schemeClr val="accent1"/>
          </a:fillRef>
          <a:effectRef idx="2">
            <a:schemeClr val="accent1"/>
          </a:effectRef>
          <a:fontRef idx="minor">
            <a:schemeClr val="lt1"/>
          </a:fontRef>
        </p:style>
        <p:txBody>
          <a:bodyPr lIns="137160" rIns="137160" rtlCol="0" anchor="ctr"/>
          <a:lstStyle/>
          <a:p>
            <a:pPr algn="ctr">
              <a:defRPr sz="1800" b="1">
                <a:solidFill>
                  <a:srgbClr val="BE4646"/>
                </a:solidFill>
              </a:defRPr>
            </a:pPr>
            <a:r>
              <a:t>Substitution</a:t>
            </a:r>
          </a:p>
          <a:p>
            <a:pPr>
              <a:defRPr sz="1400">
                <a:solidFill>
                  <a:srgbClr val="232830"/>
                </a:solidFill>
              </a:defRPr>
            </a:pPr>
            <a:r>
              <a:t>Replace a character</a:t>
            </a:r>
          </a:p>
        </p:txBody>
      </p:sp>
      <p:sp>
        <p:nvSpPr>
          <p:cNvPr id="7" name="Rounded Rectangle 6"/>
          <p:cNvSpPr/>
          <p:nvPr/>
        </p:nvSpPr>
        <p:spPr>
          <a:xfrm>
            <a:off x="4389120" y="1325880"/>
            <a:ext cx="7040880" cy="2011680"/>
          </a:xfrm>
          <a:prstGeom prst="roundRect">
            <a:avLst/>
          </a:prstGeom>
          <a:solidFill>
            <a:srgbClr val="EBF4FC"/>
          </a:solidFill>
          <a:ln>
            <a:solidFill>
              <a:srgbClr val="2D8C5A"/>
            </a:solidFill>
          </a:ln>
        </p:spPr>
        <p:style>
          <a:lnRef idx="1">
            <a:schemeClr val="accent1"/>
          </a:lnRef>
          <a:fillRef idx="3">
            <a:schemeClr val="accent1"/>
          </a:fillRef>
          <a:effectRef idx="2">
            <a:schemeClr val="accent1"/>
          </a:effectRef>
          <a:fontRef idx="minor">
            <a:schemeClr val="lt1"/>
          </a:fontRef>
        </p:style>
        <p:txBody>
          <a:bodyPr lIns="137160" rIns="137160" rtlCol="0" anchor="ctr"/>
          <a:lstStyle/>
          <a:p>
            <a:pPr algn="ctr">
              <a:defRPr sz="1800" b="1">
                <a:solidFill>
                  <a:srgbClr val="2D8C5A"/>
                </a:solidFill>
              </a:defRPr>
            </a:pPr>
            <a:r>
              <a:t>Example</a:t>
            </a:r>
          </a:p>
          <a:p>
            <a:pPr>
              <a:defRPr sz="1400">
                <a:solidFill>
                  <a:srgbClr val="232830"/>
                </a:solidFill>
              </a:defRPr>
            </a:pPr>
            <a:r>
              <a:t>Diabets → Diabetes</a:t>
            </a:r>
            <a:br/>
            <a:br/>
            <a:r>
              <a:t>Minimum edits = 1</a:t>
            </a:r>
            <a:br/>
            <a:r>
              <a:t>Therefore the system can treat the terms as similar and suggest the correct term.</a:t>
            </a:r>
          </a:p>
        </p:txBody>
      </p:sp>
      <p:sp>
        <p:nvSpPr>
          <p:cNvPr id="8" name="Rounded Rectangle 7"/>
          <p:cNvSpPr/>
          <p:nvPr/>
        </p:nvSpPr>
        <p:spPr>
          <a:xfrm>
            <a:off x="4389120" y="3703320"/>
            <a:ext cx="7040880" cy="1783080"/>
          </a:xfrm>
          <a:prstGeom prst="roundRect">
            <a:avLst/>
          </a:prstGeom>
          <a:solidFill>
            <a:srgbClr val="EBF4FC"/>
          </a:solidFill>
          <a:ln>
            <a:solidFill>
              <a:srgbClr val="1E5096"/>
            </a:solidFill>
          </a:ln>
        </p:spPr>
        <p:style>
          <a:lnRef idx="1">
            <a:schemeClr val="accent1"/>
          </a:lnRef>
          <a:fillRef idx="3">
            <a:schemeClr val="accent1"/>
          </a:fillRef>
          <a:effectRef idx="2">
            <a:schemeClr val="accent1"/>
          </a:effectRef>
          <a:fontRef idx="minor">
            <a:schemeClr val="lt1"/>
          </a:fontRef>
        </p:style>
        <p:txBody>
          <a:bodyPr lIns="137160" rIns="137160" rtlCol="0" anchor="ctr"/>
          <a:lstStyle/>
          <a:p>
            <a:pPr algn="ctr">
              <a:defRPr sz="1800" b="1">
                <a:solidFill>
                  <a:srgbClr val="1E5096"/>
                </a:solidFill>
              </a:defRPr>
            </a:pPr>
            <a:r>
              <a:t>Why Dynamic Programming?</a:t>
            </a:r>
          </a:p>
          <a:p>
            <a:pPr>
              <a:defRPr sz="1400">
                <a:solidFill>
                  <a:srgbClr val="232830"/>
                </a:solidFill>
              </a:defRPr>
            </a:pPr>
            <a:r>
              <a:t>The problem is broken into smaller string-comparison subproblems and their results are reused to compute the final minimum edit distance.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E50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1064240" cy="594360"/>
          </a:xfrm>
          <a:prstGeom prst="rect">
            <a:avLst/>
          </a:prstGeom>
          <a:noFill/>
        </p:spPr>
        <p:txBody>
          <a:bodyPr wrap="none">
            <a:spAutoFit/>
          </a:bodyPr>
          <a:lstStyle/>
          <a:p>
            <a:pPr>
              <a:defRPr sz="2800" b="1">
                <a:solidFill>
                  <a:srgbClr val="1E5096"/>
                </a:solidFill>
                <a:latin typeface="Aptos Display"/>
              </a:defRPr>
            </a:pPr>
            <a:r>
              <a:t>MediSearch – DSA Integration</a:t>
            </a:r>
          </a:p>
        </p:txBody>
      </p:sp>
      <p:sp>
        <p:nvSpPr>
          <p:cNvPr id="4" name="Rounded Rectangle 3"/>
          <p:cNvSpPr/>
          <p:nvPr/>
        </p:nvSpPr>
        <p:spPr>
          <a:xfrm>
            <a:off x="0" y="2057400"/>
            <a:ext cx="1783080" cy="914400"/>
          </a:xfrm>
          <a:prstGeom prst="roundRect">
            <a:avLst/>
          </a:prstGeom>
          <a:solidFill>
            <a:srgbClr val="EBF4FC"/>
          </a:solidFill>
          <a:ln>
            <a:solidFill>
              <a:srgbClr val="1E509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232830"/>
                </a:solidFill>
              </a:defRPr>
            </a:pPr>
            <a:r>
              <a:t>User Query</a:t>
            </a:r>
          </a:p>
        </p:txBody>
      </p:sp>
      <p:cxnSp>
        <p:nvCxnSpPr>
          <p:cNvPr id="5" name="Connector 4"/>
          <p:cNvCxnSpPr/>
          <p:nvPr/>
        </p:nvCxnSpPr>
        <p:spPr>
          <a:xfrm>
            <a:off x="1828800" y="2560320"/>
            <a:ext cx="365760" cy="0"/>
          </a:xfrm>
          <a:prstGeom prst="line">
            <a:avLst/>
          </a:prstGeom>
          <a:ln w="25400">
            <a:solidFill>
              <a:srgbClr val="697078"/>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2240280" y="2103120"/>
            <a:ext cx="1783080" cy="914400"/>
          </a:xfrm>
          <a:prstGeom prst="roundRect">
            <a:avLst/>
          </a:prstGeom>
          <a:solidFill>
            <a:srgbClr val="EBF4FC"/>
          </a:solidFill>
          <a:ln>
            <a:solidFill>
              <a:srgbClr val="2D8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232830"/>
                </a:solidFill>
              </a:defRPr>
            </a:pPr>
            <a:r>
              <a:rPr dirty="0"/>
              <a:t>Trie</a:t>
            </a:r>
            <a:br>
              <a:rPr dirty="0"/>
            </a:br>
            <a:r>
              <a:rPr dirty="0"/>
              <a:t>Autocomplete</a:t>
            </a:r>
          </a:p>
        </p:txBody>
      </p:sp>
      <p:cxnSp>
        <p:nvCxnSpPr>
          <p:cNvPr id="7" name="Connector 6"/>
          <p:cNvCxnSpPr/>
          <p:nvPr/>
        </p:nvCxnSpPr>
        <p:spPr>
          <a:xfrm>
            <a:off x="4023360" y="2560320"/>
            <a:ext cx="365760" cy="0"/>
          </a:xfrm>
          <a:prstGeom prst="line">
            <a:avLst/>
          </a:prstGeom>
          <a:ln w="25400">
            <a:solidFill>
              <a:srgbClr val="697078"/>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4389120" y="2121408"/>
            <a:ext cx="1783080" cy="914400"/>
          </a:xfrm>
          <a:prstGeom prst="roundRect">
            <a:avLst/>
          </a:prstGeom>
          <a:solidFill>
            <a:srgbClr val="EBF4FC"/>
          </a:solidFill>
          <a:ln>
            <a:solidFill>
              <a:srgbClr val="BE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232830"/>
                </a:solidFill>
              </a:defRPr>
            </a:pPr>
            <a:r>
              <a:t>KMP</a:t>
            </a:r>
            <a:br/>
            <a:r>
              <a:t>Pattern Match</a:t>
            </a:r>
          </a:p>
        </p:txBody>
      </p:sp>
      <p:cxnSp>
        <p:nvCxnSpPr>
          <p:cNvPr id="9" name="Connector 8"/>
          <p:cNvCxnSpPr/>
          <p:nvPr/>
        </p:nvCxnSpPr>
        <p:spPr>
          <a:xfrm>
            <a:off x="6172200" y="2532888"/>
            <a:ext cx="365760" cy="0"/>
          </a:xfrm>
          <a:prstGeom prst="line">
            <a:avLst/>
          </a:prstGeom>
          <a:ln w="25400">
            <a:solidFill>
              <a:srgbClr val="697078"/>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537960" y="2112264"/>
            <a:ext cx="1783080" cy="914400"/>
          </a:xfrm>
          <a:prstGeom prst="roundRect">
            <a:avLst/>
          </a:prstGeom>
          <a:solidFill>
            <a:srgbClr val="EBF4FC"/>
          </a:solidFill>
          <a:ln>
            <a:solidFill>
              <a:srgbClr val="1E509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232830"/>
                </a:solidFill>
              </a:defRPr>
            </a:pPr>
            <a:r>
              <a:t>Edit Distance</a:t>
            </a:r>
            <a:br/>
            <a:r>
              <a:t>Fuzzy Match</a:t>
            </a:r>
          </a:p>
        </p:txBody>
      </p:sp>
      <p:cxnSp>
        <p:nvCxnSpPr>
          <p:cNvPr id="11" name="Connector 10"/>
          <p:cNvCxnSpPr/>
          <p:nvPr/>
        </p:nvCxnSpPr>
        <p:spPr>
          <a:xfrm>
            <a:off x="8321040" y="2578608"/>
            <a:ext cx="365760" cy="0"/>
          </a:xfrm>
          <a:prstGeom prst="line">
            <a:avLst/>
          </a:prstGeom>
          <a:ln w="25400">
            <a:solidFill>
              <a:srgbClr val="697078"/>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663939" y="2103120"/>
            <a:ext cx="1783080" cy="914400"/>
          </a:xfrm>
          <a:prstGeom prst="roundRect">
            <a:avLst/>
          </a:prstGeom>
          <a:solidFill>
            <a:srgbClr val="EBF4FC"/>
          </a:solidFill>
          <a:ln>
            <a:solidFill>
              <a:srgbClr val="2D8C5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232830"/>
                </a:solidFill>
              </a:defRPr>
            </a:pPr>
            <a:r>
              <a:rPr dirty="0"/>
              <a:t>HashMap</a:t>
            </a:r>
            <a:br>
              <a:rPr dirty="0"/>
            </a:br>
            <a:r>
              <a:rPr dirty="0"/>
              <a:t>Patient Lookup</a:t>
            </a:r>
          </a:p>
        </p:txBody>
      </p:sp>
      <p:cxnSp>
        <p:nvCxnSpPr>
          <p:cNvPr id="13" name="Connector 12"/>
          <p:cNvCxnSpPr/>
          <p:nvPr/>
        </p:nvCxnSpPr>
        <p:spPr>
          <a:xfrm>
            <a:off x="10447019" y="2569464"/>
            <a:ext cx="365761" cy="0"/>
          </a:xfrm>
          <a:prstGeom prst="line">
            <a:avLst/>
          </a:prstGeom>
          <a:ln w="25400">
            <a:solidFill>
              <a:srgbClr val="697078"/>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10629899" y="2121408"/>
            <a:ext cx="1562101" cy="914400"/>
          </a:xfrm>
          <a:prstGeom prst="roundRect">
            <a:avLst/>
          </a:prstGeom>
          <a:solidFill>
            <a:srgbClr val="EBF4FC"/>
          </a:solidFill>
          <a:ln>
            <a:solidFill>
              <a:srgbClr val="BE464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500" b="1">
                <a:solidFill>
                  <a:srgbClr val="232830"/>
                </a:solidFill>
              </a:defRPr>
            </a:pPr>
            <a:r>
              <a:t>Results</a:t>
            </a:r>
          </a:p>
        </p:txBody>
      </p:sp>
      <p:sp>
        <p:nvSpPr>
          <p:cNvPr id="15" name="TextBox 14"/>
          <p:cNvSpPr txBox="1"/>
          <p:nvPr/>
        </p:nvSpPr>
        <p:spPr>
          <a:xfrm>
            <a:off x="914400" y="4114800"/>
            <a:ext cx="10241280" cy="1188720"/>
          </a:xfrm>
          <a:prstGeom prst="rect">
            <a:avLst/>
          </a:prstGeom>
          <a:noFill/>
        </p:spPr>
        <p:txBody>
          <a:bodyPr wrap="square">
            <a:spAutoFit/>
          </a:bodyPr>
          <a:lstStyle/>
          <a:p>
            <a:pPr>
              <a:spcAft>
                <a:spcPts val="1200"/>
              </a:spcAft>
              <a:defRPr sz="1800">
                <a:solidFill>
                  <a:srgbClr val="232830"/>
                </a:solidFill>
                <a:latin typeface="Aptos"/>
              </a:defRPr>
            </a:pPr>
            <a:r>
              <a:t>Each DSA component solves a different part of the retrieval problem.</a:t>
            </a:r>
          </a:p>
          <a:p>
            <a:pPr>
              <a:spcAft>
                <a:spcPts val="1200"/>
              </a:spcAft>
              <a:defRPr sz="1800">
                <a:solidFill>
                  <a:srgbClr val="232830"/>
                </a:solidFill>
                <a:latin typeface="Aptos"/>
              </a:defRPr>
            </a:pPr>
            <a:r>
              <a:t>Together they form the intelligent search pipeline of MediSearch.</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E50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20040"/>
            <a:ext cx="11064240" cy="594360"/>
          </a:xfrm>
          <a:prstGeom prst="rect">
            <a:avLst/>
          </a:prstGeom>
          <a:noFill/>
        </p:spPr>
        <p:txBody>
          <a:bodyPr wrap="none">
            <a:spAutoFit/>
          </a:bodyPr>
          <a:lstStyle/>
          <a:p>
            <a:pPr>
              <a:defRPr sz="2800" b="1">
                <a:solidFill>
                  <a:srgbClr val="1E5096"/>
                </a:solidFill>
                <a:latin typeface="Aptos Display"/>
              </a:defRPr>
            </a:pPr>
            <a:r>
              <a:t>Expected Outcome</a:t>
            </a:r>
          </a:p>
        </p:txBody>
      </p:sp>
      <p:sp>
        <p:nvSpPr>
          <p:cNvPr id="4" name="TextBox 3"/>
          <p:cNvSpPr txBox="1"/>
          <p:nvPr/>
        </p:nvSpPr>
        <p:spPr>
          <a:xfrm>
            <a:off x="731520" y="1325880"/>
            <a:ext cx="10698480" cy="4937760"/>
          </a:xfrm>
          <a:prstGeom prst="rect">
            <a:avLst/>
          </a:prstGeom>
          <a:noFill/>
        </p:spPr>
        <p:txBody>
          <a:bodyPr wrap="square">
            <a:spAutoFit/>
          </a:bodyPr>
          <a:lstStyle/>
          <a:p>
            <a:pPr>
              <a:spcAft>
                <a:spcPts val="1200"/>
              </a:spcAft>
              <a:defRPr sz="2000">
                <a:solidFill>
                  <a:srgbClr val="232830"/>
                </a:solidFill>
                <a:latin typeface="Aptos"/>
              </a:defRPr>
            </a:pPr>
            <a:r>
              <a:t>Fast retrieval of patient records.</a:t>
            </a:r>
          </a:p>
          <a:p>
            <a:pPr>
              <a:spcAft>
                <a:spcPts val="1200"/>
              </a:spcAft>
              <a:defRPr sz="2000">
                <a:solidFill>
                  <a:srgbClr val="232830"/>
                </a:solidFill>
                <a:latin typeface="Aptos"/>
              </a:defRPr>
            </a:pPr>
            <a:r>
              <a:t>Efficient string-based searching.</a:t>
            </a:r>
          </a:p>
          <a:p>
            <a:pPr>
              <a:spcAft>
                <a:spcPts val="1200"/>
              </a:spcAft>
              <a:defRPr sz="2000">
                <a:solidFill>
                  <a:srgbClr val="232830"/>
                </a:solidFill>
                <a:latin typeface="Aptos"/>
              </a:defRPr>
            </a:pPr>
            <a:r>
              <a:t>Autocomplete and prefix-based suggestions.</a:t>
            </a:r>
          </a:p>
          <a:p>
            <a:pPr>
              <a:spcAft>
                <a:spcPts val="1200"/>
              </a:spcAft>
              <a:defRPr sz="2000">
                <a:solidFill>
                  <a:srgbClr val="232830"/>
                </a:solidFill>
                <a:latin typeface="Aptos"/>
              </a:defRPr>
            </a:pPr>
            <a:r>
              <a:t>Spelling correction through fuzzy matching.</a:t>
            </a:r>
          </a:p>
          <a:p>
            <a:pPr>
              <a:spcAft>
                <a:spcPts val="1200"/>
              </a:spcAft>
              <a:defRPr sz="2000">
                <a:solidFill>
                  <a:srgbClr val="232830"/>
                </a:solidFill>
                <a:latin typeface="Aptos"/>
              </a:defRPr>
            </a:pPr>
            <a:r>
              <a:t>Reduced search time and improved search accuracy.</a:t>
            </a:r>
          </a:p>
          <a:p>
            <a:pPr>
              <a:spcAft>
                <a:spcPts val="1200"/>
              </a:spcAft>
              <a:defRPr sz="2000">
                <a:solidFill>
                  <a:srgbClr val="232830"/>
                </a:solidFill>
                <a:latin typeface="Aptos"/>
              </a:defRPr>
            </a:pPr>
            <a:r>
              <a:t>Clear demonstration of practical DSA applications in healthcare.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1E50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835932" y="2057400"/>
            <a:ext cx="2489656" cy="738664"/>
          </a:xfrm>
          <a:prstGeom prst="rect">
            <a:avLst/>
          </a:prstGeom>
          <a:noFill/>
        </p:spPr>
        <p:txBody>
          <a:bodyPr wrap="none">
            <a:spAutoFit/>
          </a:bodyPr>
          <a:lstStyle/>
          <a:p>
            <a:pPr algn="ctr">
              <a:defRPr sz="4200" b="1">
                <a:solidFill>
                  <a:srgbClr val="1E5096"/>
                </a:solidFill>
              </a:defRPr>
            </a:pPr>
            <a:r>
              <a:t>Thank You</a:t>
            </a:r>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764</Words>
  <Application>Microsoft Office PowerPoint</Application>
  <PresentationFormat>Widescreen</PresentationFormat>
  <Paragraphs>117</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Sahasra Gandla</cp:lastModifiedBy>
  <cp:revision>1</cp:revision>
  <dcterms:created xsi:type="dcterms:W3CDTF">2013-01-27T09:14:16Z</dcterms:created>
  <dcterms:modified xsi:type="dcterms:W3CDTF">2026-08-26T17:43:43Z</dcterms:modified>
  <cp:category/>
</cp:coreProperties>
</file>