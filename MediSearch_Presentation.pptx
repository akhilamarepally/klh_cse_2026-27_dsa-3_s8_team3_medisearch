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d8f4975-4753-46a3-81e1-28a0a3210e90}">
          <p14:sldIdLst>
            <p14:sldId id="256"/>
            <p14:sldId id="257"/>
            <p14:sldId id="258"/>
            <p14:sldId id="259"/>
          </p14:sldIdLst>
        </p14:section>
        <p14:section name="Design" id="{5fb7b584-bf53-11a9-4d60-922fcea843f2}">
          <p14:sldIdLst>
            <p14:sldId id="260"/>
            <p14:sldId id="261"/>
            <p14:sldId id="262"/>
            <p14:sldId id="263"/>
          </p14:sldIdLst>
        </p14:section>
        <p14:section name="Algorithms" id="{4db308e4-1be5-8ff9-5243-4ceefe03aa8e}">
          <p14:sldIdLst>
            <p14:sldId id="264"/>
            <p14:sldId id="265"/>
            <p14:sldId id="266"/>
          </p14:sldIdLst>
        </p14:section>
        <p14:section name="Evaluation" id="{1e8b0537-ae49-7785-afbe-98871ea1c162}">
          <p14:sldIdLst>
            <p14:sldId id="267"/>
          </p14:sldIdLst>
        </p14:section>
        <p14:section name="Wrap-up" id="{1c65faf0-e38e-31b2-bd92-6b448dcc31a2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8E5D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E8E5DF"/>
                </a:solidFill>
                <a:latin typeface="+mn-lt"/>
              </a:rPr>
              <a:t>Patients per disease (150 records)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D6B5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8E5D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Vitamin D deficiency</c:v>
                  </c:pt>
                  <c:pt idx="1">
                    <c:v>Viral fever</c:v>
                  </c:pt>
                  <c:pt idx="2">
                    <c:v>Iron-deficiency anemia</c:v>
                  </c:pt>
                  <c:pt idx="3">
                    <c:v>Anxiety disorder</c:v>
                  </c:pt>
                  <c:pt idx="4">
                    <c:v>Osteoarthritis</c:v>
                  </c:pt>
                  <c:pt idx="5">
                    <c:v>Migraine</c:v>
                  </c:pt>
                  <c:pt idx="6">
                    <c:v>Pneumonia</c:v>
                  </c:pt>
                  <c:pt idx="7">
                    <c:v>Hypothyroidism</c:v>
                  </c:pt>
                  <c:pt idx="8">
                    <c:v>Asthma</c:v>
                  </c:pt>
                  <c:pt idx="9">
                    <c:v>Urinary tract infection</c:v>
                  </c:pt>
                  <c:pt idx="10">
                    <c:v>Seasonal allergy</c:v>
                  </c:pt>
                  <c:pt idx="11">
                    <c:v>Type 2 Diabetes</c:v>
                  </c:pt>
                  <c:pt idx="12">
                    <c:v>Hypertension</c:v>
                  </c:pt>
                  <c:pt idx="13">
                    <c:v>Dermatitis</c:v>
                  </c:pt>
                  <c:pt idx="14">
                    <c:v>Gastritis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11</c:v>
                </c:pt>
                <c:pt idx="10">
                  <c:v>11</c:v>
                </c:pt>
                <c:pt idx="11">
                  <c:v>11</c:v>
                </c:pt>
                <c:pt idx="12">
                  <c:v>12</c:v>
                </c:pt>
                <c:pt idx="13">
                  <c:v>12</c:v>
                </c:pt>
                <c:pt idx="1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8E5D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5D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b"/>
        <c:majorGridlines>
          <c:spPr>
            <a:ln w="6350" cap="flat">
              <a:solidFill>
                <a:srgbClr val="3A3D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4A09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MediSearch and the DSA-3 context. State clearly that every patient record is fictional and that the project is an academic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whole project in 30 seconds: what it is, what it demonstrates, what it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search challenge. Do not claim real hospital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objective maps to a feature you can demonstrate.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left navigation of the app: every row is a page or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the data path: seed JSON → IndexedDB → services → pages. Algorithms are plain JavaScript modules called by the services and the Algorithm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runs in the browser; Node.js is only used for the dev server and the test runner.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data is seeded only when the IndexedDB store is empty, so edits survive a refresh but do not sync between browsers.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 stops at the first stage that returns results. Approximate matching is deliberately limited to names with a conservative threshold so unrelated records are not returned.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algorithms into data structures, string matching and dynamic programming / similarity. Be clear about which are wired into pages and which are modules for the Algorithm Lab or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text length, m = pattern length, z = number of matches, V and E = graph vertices and edges. Rabin–Karp is expected linear but can degrade with many hash collisions. Our Levenshtein and Needleman–Wunsch implementations keep the full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exactly what was verified. Do not call the build or browser workflows tested until you have run them locally.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part of the honest scope. Future items are what a production system would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value: DSA concepts shown in a usable retrieval interface, within honest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Offer a live demo of search, Similar Cases and the Algorithm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DSA-3 (25CS2103E)  ·  A.Y. 2026-2027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MediSearch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03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Hospital Patient Information Retrieval System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+ IndexedDB retrieval demo built on classical string-matching, dynamic-programming and similarity algorithms</a:t>
            </a:r>
            <a:endParaRPr lang="en-US" sz="1300" dirty="0"/>
          </a:p>
        </p:txBody>
      </p:sp>
      <p:sp>
        <p:nvSpPr>
          <p:cNvPr id="7" name="Motif ring"/>
          <p:cNvSpPr/>
          <p:nvPr/>
        </p:nvSpPr>
        <p:spPr>
          <a:xfrm>
            <a:off x="5943600" y="640080"/>
            <a:ext cx="2743200" cy="274320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Plus vertical"/>
          <p:cNvSpPr/>
          <p:nvPr/>
        </p:nvSpPr>
        <p:spPr>
          <a:xfrm>
            <a:off x="7040880" y="1371600"/>
            <a:ext cx="548640" cy="12801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lus horizontal"/>
          <p:cNvSpPr/>
          <p:nvPr/>
        </p:nvSpPr>
        <p:spPr>
          <a:xfrm>
            <a:off x="6675120" y="173736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ot cyan"/>
          <p:cNvSpPr/>
          <p:nvPr/>
        </p:nvSpPr>
        <p:spPr>
          <a:xfrm>
            <a:off x="5669280" y="26517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ot lilac"/>
          <p:cNvSpPr/>
          <p:nvPr/>
        </p:nvSpPr>
        <p:spPr>
          <a:xfrm>
            <a:off x="8412480" y="109728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Dot coral"/>
          <p:cNvSpPr/>
          <p:nvPr/>
        </p:nvSpPr>
        <p:spPr>
          <a:xfrm>
            <a:off x="8138160" y="301752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am card"/>
          <p:cNvSpPr/>
          <p:nvPr/>
        </p:nvSpPr>
        <p:spPr>
          <a:xfrm>
            <a:off x="548640" y="3749040"/>
            <a:ext cx="8046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1 – Roll No.]   |   [Team Member 2 – Roll No.]   |   [Team Member 3 – Roll No.]</a:t>
            </a:r>
            <a:endParaRPr lang="en-US" sz="13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[Faculty Name], Department of CSE  ·  K L (Deemed to be)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4" name="Abstract card"/>
          <p:cNvSpPr/>
          <p:nvPr/>
        </p:nvSpPr>
        <p:spPr>
          <a:xfrm>
            <a:off x="457200" y="1188720"/>
            <a:ext cx="5120640" cy="3383280"/>
          </a:xfrm>
          <a:prstGeom prst="roundRect">
            <a:avLst>
              <a:gd name="adj" fmla="val 216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37160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staff often need a record by ID, name, symptom, doctor or medicine — not only by exact name.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is a frontend-only React application that organises 150 fictional patient records and retrieves them with exact, partial and approximate matching.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DSA techniques (KMP, Z, Rabin–Karp, Trie, edit distance, Jaccard, Needleman–Wunsch) power the search and similarity features.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persist in the browser through IndexedDB. No real patient data is used.</a:t>
            </a:r>
            <a:endParaRPr lang="en-US" sz="1400" dirty="0"/>
          </a:p>
        </p:txBody>
      </p:sp>
      <p:sp>
        <p:nvSpPr>
          <p:cNvPr id="6" name="Stat card 1"/>
          <p:cNvSpPr/>
          <p:nvPr/>
        </p:nvSpPr>
        <p:spPr>
          <a:xfrm>
            <a:off x="5852160" y="1188720"/>
            <a:ext cx="283464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89320" y="1261872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1847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patient records</a:t>
            </a:r>
            <a:endParaRPr lang="en-US" sz="1300" dirty="0"/>
          </a:p>
        </p:txBody>
      </p:sp>
      <p:sp>
        <p:nvSpPr>
          <p:cNvPr id="9" name="Stat card 2"/>
          <p:cNvSpPr/>
          <p:nvPr/>
        </p:nvSpPr>
        <p:spPr>
          <a:xfrm>
            <a:off x="5852160" y="2359152"/>
            <a:ext cx="283464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89320" y="243230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5989320" y="3017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modules</a:t>
            </a:r>
            <a:endParaRPr lang="en-US" sz="1300" dirty="0"/>
          </a:p>
        </p:txBody>
      </p:sp>
      <p:sp>
        <p:nvSpPr>
          <p:cNvPr id="12" name="Stat card 3"/>
          <p:cNvSpPr/>
          <p:nvPr/>
        </p:nvSpPr>
        <p:spPr>
          <a:xfrm>
            <a:off x="5852160" y="3529584"/>
            <a:ext cx="2834640" cy="1042416"/>
          </a:xfrm>
          <a:prstGeom prst="roundRect">
            <a:avLst>
              <a:gd name="adj" fmla="val 701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89320" y="360273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41879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Problem card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Problem icon 1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roblem icon 1 icon" descr="Problem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512418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Exact-name-only search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misspelt or partial name returns nothing.</a:t>
            </a:r>
            <a:endParaRPr lang="en-US" sz="1200" dirty="0"/>
          </a:p>
        </p:txBody>
      </p:sp>
      <p:sp>
        <p:nvSpPr>
          <p:cNvPr id="9" name="Problem card 2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Problem icon 2 circle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Problem icon 2 icon" descr="Problem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818" y="1512418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42900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spread across fields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342900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symptoms, doctor, ward and medicine sit in different places.</a:t>
            </a:r>
            <a:endParaRPr lang="en-US" sz="1200" dirty="0"/>
          </a:p>
        </p:txBody>
      </p:sp>
      <p:sp>
        <p:nvSpPr>
          <p:cNvPr id="14" name="Problem card 3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Problem icon 3 circle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Problem icon 3 icon" descr="Problem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8738" y="1512418"/>
            <a:ext cx="221285" cy="22128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217920" y="19659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mistakes are common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6217920" y="2258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need suggestions, not a blank result page.</a:t>
            </a:r>
            <a:endParaRPr lang="en-US" sz="1200" dirty="0"/>
          </a:p>
        </p:txBody>
      </p:sp>
      <p:sp>
        <p:nvSpPr>
          <p:cNvPr id="19" name="Problem card 4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0" name="Problem icon 4 circle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Problem icon 4 icon" descr="Problem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3295498"/>
            <a:ext cx="221285" cy="2212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 cases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041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patients with overlapping symptoms is manual.</a:t>
            </a:r>
            <a:endParaRPr lang="en-US" sz="1200" dirty="0"/>
          </a:p>
        </p:txBody>
      </p:sp>
      <p:sp>
        <p:nvSpPr>
          <p:cNvPr id="24" name="Problem card 5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5" name="Problem icon 5 circle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Problem icon 5 icon" descr="Problem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9818" y="3295498"/>
            <a:ext cx="221285" cy="22128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2900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activity trail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3429000" y="4041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and profile views are not recorded.</a:t>
            </a:r>
            <a:endParaRPr lang="en-US" sz="1200" dirty="0"/>
          </a:p>
        </p:txBody>
      </p:sp>
      <p:sp>
        <p:nvSpPr>
          <p:cNvPr id="29" name="Problem card 6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0" name="Problem icon 6 circle"/>
          <p:cNvSpPr/>
          <p:nvPr/>
        </p:nvSpPr>
        <p:spPr>
          <a:xfrm>
            <a:off x="6217920" y="3154680"/>
            <a:ext cx="502920" cy="50292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Problem icon 6 icon" descr="Problem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738" y="3295498"/>
            <a:ext cx="221285" cy="221285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217920" y="37490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lacks a real context</a:t>
            </a:r>
            <a:endParaRPr lang="en-US" sz="1400" dirty="0"/>
          </a:p>
        </p:txBody>
      </p:sp>
      <p:sp>
        <p:nvSpPr>
          <p:cNvPr id="33" name="Text 24"/>
          <p:cNvSpPr txBox="1"/>
          <p:nvPr/>
        </p:nvSpPr>
        <p:spPr>
          <a:xfrm>
            <a:off x="6217920" y="4041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are often taught in isolation from an application.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4" name="Objective number 1"/>
          <p:cNvSpPr/>
          <p:nvPr/>
        </p:nvSpPr>
        <p:spPr>
          <a:xfrm>
            <a:off x="457200" y="1225296"/>
            <a:ext cx="402336" cy="40233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25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Objective card 1"/>
          <p:cNvSpPr/>
          <p:nvPr/>
        </p:nvSpPr>
        <p:spPr>
          <a:xfrm>
            <a:off x="1005840" y="1188720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88720" y="118872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fictional patient records in a structured JSON schema (150 records, IDs P0001–P0150).</a:t>
            </a:r>
            <a:endParaRPr lang="en-US" sz="1400" dirty="0"/>
          </a:p>
        </p:txBody>
      </p:sp>
      <p:sp>
        <p:nvSpPr>
          <p:cNvPr id="8" name="Objective number 2"/>
          <p:cNvSpPr/>
          <p:nvPr/>
        </p:nvSpPr>
        <p:spPr>
          <a:xfrm>
            <a:off x="457200" y="1801368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801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Objective card 2"/>
          <p:cNvSpPr/>
          <p:nvPr/>
        </p:nvSpPr>
        <p:spPr>
          <a:xfrm>
            <a:off x="1005840" y="1764792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88720" y="17647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records with exact, partial and approximate matching.</a:t>
            </a:r>
            <a:endParaRPr lang="en-US" sz="1400" dirty="0"/>
          </a:p>
        </p:txBody>
      </p:sp>
      <p:sp>
        <p:nvSpPr>
          <p:cNvPr id="12" name="Objective number 3"/>
          <p:cNvSpPr/>
          <p:nvPr/>
        </p:nvSpPr>
        <p:spPr>
          <a:xfrm>
            <a:off x="457200" y="2377440"/>
            <a:ext cx="402336" cy="40233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Objective card 3"/>
          <p:cNvSpPr/>
          <p:nvPr/>
        </p:nvSpPr>
        <p:spPr>
          <a:xfrm>
            <a:off x="1005840" y="2340864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234086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names and IDs while typing using a Trie.</a:t>
            </a:r>
            <a:endParaRPr lang="en-US" sz="1400" dirty="0"/>
          </a:p>
        </p:txBody>
      </p:sp>
      <p:sp>
        <p:nvSpPr>
          <p:cNvPr id="16" name="Objective number 4"/>
          <p:cNvSpPr/>
          <p:nvPr/>
        </p:nvSpPr>
        <p:spPr>
          <a:xfrm>
            <a:off x="457200" y="2953512"/>
            <a:ext cx="402336" cy="40233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Objective card 4"/>
          <p:cNvSpPr/>
          <p:nvPr/>
        </p:nvSpPr>
        <p:spPr>
          <a:xfrm>
            <a:off x="1005840" y="2916936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88720" y="291693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Naive, KMP, Z, Rabin–Karp, Boyer–Moore, Aho–Corasick and Needleman–Wunsch.</a:t>
            </a:r>
            <a:endParaRPr lang="en-US" sz="1400" dirty="0"/>
          </a:p>
        </p:txBody>
      </p:sp>
      <p:sp>
        <p:nvSpPr>
          <p:cNvPr id="20" name="Objective number 5"/>
          <p:cNvSpPr/>
          <p:nvPr/>
        </p:nvSpPr>
        <p:spPr>
          <a:xfrm>
            <a:off x="457200" y="3529584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Objective card 5"/>
          <p:cNvSpPr/>
          <p:nvPr/>
        </p:nvSpPr>
        <p:spPr>
          <a:xfrm>
            <a:off x="1005840" y="3493008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88720" y="349300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similar cases by symptom overlap using Jaccard similarity.</a:t>
            </a:r>
            <a:endParaRPr lang="en-US" sz="1400" dirty="0"/>
          </a:p>
        </p:txBody>
      </p:sp>
      <p:sp>
        <p:nvSpPr>
          <p:cNvPr id="24" name="Objective number 6"/>
          <p:cNvSpPr/>
          <p:nvPr/>
        </p:nvSpPr>
        <p:spPr>
          <a:xfrm>
            <a:off x="457200" y="4105656"/>
            <a:ext cx="402336" cy="402336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Objective card 6"/>
          <p:cNvSpPr/>
          <p:nvPr/>
        </p:nvSpPr>
        <p:spPr>
          <a:xfrm>
            <a:off x="1005840" y="4069080"/>
            <a:ext cx="7680960" cy="475488"/>
          </a:xfrm>
          <a:prstGeom prst="roundRect">
            <a:avLst>
              <a:gd name="adj" fmla="val 1538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88720" y="406908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changes in IndexedDB and support JSON / CSV import and export.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400" dirty="0"/>
          </a:p>
        </p:txBody>
      </p:sp>
      <p:graphicFrame>
        <p:nvGraphicFramePr>
          <p:cNvPr id="6" name="Functional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counts and disease distribution from stored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/ name / symptom / doctor / medicine; exact → partial → approximate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Trie-based suggestions for names and IDs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 &amp;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Browse, filter and open a complete patient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/ Edit /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 form; confirmation before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Prescriptions, medicine administration, lab reports, appointments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events: registered, updated, searched, viewed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overlap of symptom 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five algorithms on editable text and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/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backup and import, CSV directory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Box user"/>
          <p:cNvSpPr/>
          <p:nvPr/>
        </p:nvSpPr>
        <p:spPr>
          <a:xfrm>
            <a:off x="457200" y="114300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Box user dot"/>
          <p:cNvSpPr/>
          <p:nvPr/>
        </p:nvSpPr>
        <p:spPr>
          <a:xfrm>
            <a:off x="594360" y="1280160"/>
            <a:ext cx="128016" cy="128016"/>
          </a:xfrm>
          <a:prstGeom prst="ellipse">
            <a:avLst/>
          </a:prstGeom>
          <a:solidFill>
            <a:srgbClr val="D6B56F"/>
          </a:solidFill>
          <a:ln w="12700">
            <a:solidFill>
              <a:srgbClr val="D6B56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" y="1216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52704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member in a web browser</a:t>
            </a:r>
            <a:endParaRPr lang="en-US" sz="1200" dirty="0"/>
          </a:p>
        </p:txBody>
      </p:sp>
      <p:sp>
        <p:nvSpPr>
          <p:cNvPr id="8" name="Box ui"/>
          <p:cNvSpPr/>
          <p:nvPr/>
        </p:nvSpPr>
        <p:spPr>
          <a:xfrm>
            <a:off x="274320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Box ui dot"/>
          <p:cNvSpPr/>
          <p:nvPr/>
        </p:nvSpPr>
        <p:spPr>
          <a:xfrm>
            <a:off x="2880360" y="1280160"/>
            <a:ext cx="128016" cy="128016"/>
          </a:xfrm>
          <a:prstGeom prst="ellipse">
            <a:avLst/>
          </a:prstGeom>
          <a:solidFill>
            <a:srgbClr val="75C9D3"/>
          </a:solidFill>
          <a:ln w="12700">
            <a:solidFill>
              <a:srgbClr val="75C9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090672" y="1216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+ Router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907792" y="15270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pages: Dashboard, Search, Directory, Profile, forms, Lab</a:t>
            </a:r>
            <a:endParaRPr lang="en-US" sz="1200" dirty="0"/>
          </a:p>
        </p:txBody>
      </p:sp>
      <p:sp>
        <p:nvSpPr>
          <p:cNvPr id="12" name="Box services"/>
          <p:cNvSpPr/>
          <p:nvPr/>
        </p:nvSpPr>
        <p:spPr>
          <a:xfrm>
            <a:off x="5852160" y="1143000"/>
            <a:ext cx="28346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Box services dot"/>
          <p:cNvSpPr/>
          <p:nvPr/>
        </p:nvSpPr>
        <p:spPr>
          <a:xfrm>
            <a:off x="5989320" y="1280160"/>
            <a:ext cx="128016" cy="128016"/>
          </a:xfrm>
          <a:prstGeom prst="ellipse">
            <a:avLst/>
          </a:prstGeom>
          <a:solidFill>
            <a:srgbClr val="B8A0E8"/>
          </a:solidFill>
          <a:ln w="12700">
            <a:solidFill>
              <a:srgbClr val="B8A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99632" y="12161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layer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16752" y="1527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patientService · searchService · historyService · storageService</a:t>
            </a:r>
            <a:endParaRPr lang="en-US" sz="1200" dirty="0"/>
          </a:p>
        </p:txBody>
      </p:sp>
      <p:sp>
        <p:nvSpPr>
          <p:cNvPr id="16" name="Box algos"/>
          <p:cNvSpPr/>
          <p:nvPr/>
        </p:nvSpPr>
        <p:spPr>
          <a:xfrm>
            <a:off x="2743200" y="256032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7" name="Box algos dot"/>
          <p:cNvSpPr/>
          <p:nvPr/>
        </p:nvSpPr>
        <p:spPr>
          <a:xfrm>
            <a:off x="2880360" y="2697480"/>
            <a:ext cx="128016" cy="128016"/>
          </a:xfrm>
          <a:prstGeom prst="ellipse">
            <a:avLst/>
          </a:prstGeom>
          <a:solidFill>
            <a:srgbClr val="8FB8F4"/>
          </a:solidFill>
          <a:ln w="12700">
            <a:solidFill>
              <a:srgbClr val="8FB8F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090672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modules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907792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· Z · Rabin–Karp · Trie · Edit distance · Jaccard · NW · Aho–Corasick</a:t>
            </a:r>
            <a:endParaRPr lang="en-US" sz="1200" dirty="0"/>
          </a:p>
        </p:txBody>
      </p:sp>
      <p:sp>
        <p:nvSpPr>
          <p:cNvPr id="20" name="Box idb"/>
          <p:cNvSpPr/>
          <p:nvPr/>
        </p:nvSpPr>
        <p:spPr>
          <a:xfrm>
            <a:off x="5852160" y="2560320"/>
            <a:ext cx="28346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1" name="Box idb dot"/>
          <p:cNvSpPr/>
          <p:nvPr/>
        </p:nvSpPr>
        <p:spPr>
          <a:xfrm>
            <a:off x="5989320" y="2697480"/>
            <a:ext cx="128016" cy="128016"/>
          </a:xfrm>
          <a:prstGeom prst="ellipse">
            <a:avLst/>
          </a:prstGeom>
          <a:solidFill>
            <a:srgbClr val="E79A91"/>
          </a:solidFill>
          <a:ln w="12700">
            <a:solidFill>
              <a:srgbClr val="E79A9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99632" y="2633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16752" y="294436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stores: patients, events (browser-local)</a:t>
            </a:r>
            <a:endParaRPr lang="en-US" sz="1200" dirty="0"/>
          </a:p>
        </p:txBody>
      </p:sp>
      <p:sp>
        <p:nvSpPr>
          <p:cNvPr id="24" name="Box seed"/>
          <p:cNvSpPr/>
          <p:nvPr/>
        </p:nvSpPr>
        <p:spPr>
          <a:xfrm>
            <a:off x="5852160" y="388620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5" name="Box seed dot"/>
          <p:cNvSpPr/>
          <p:nvPr/>
        </p:nvSpPr>
        <p:spPr>
          <a:xfrm>
            <a:off x="5989320" y="4023360"/>
            <a:ext cx="128016" cy="128016"/>
          </a:xfrm>
          <a:prstGeom prst="ellipse">
            <a:avLst/>
          </a:prstGeom>
          <a:solidFill>
            <a:srgbClr val="8FD3A8"/>
          </a:solidFill>
          <a:ln w="12700">
            <a:solidFill>
              <a:srgbClr val="8FD3A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99632" y="3959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patients.json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016752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fictional records, seeded once</a:t>
            </a:r>
            <a:endParaRPr lang="en-US" sz="1200" dirty="0"/>
          </a:p>
        </p:txBody>
      </p:sp>
      <p:sp>
        <p:nvSpPr>
          <p:cNvPr id="28" name="Box export"/>
          <p:cNvSpPr/>
          <p:nvPr/>
        </p:nvSpPr>
        <p:spPr>
          <a:xfrm>
            <a:off x="2743200" y="3886200"/>
            <a:ext cx="26517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9" name="Box export dot"/>
          <p:cNvSpPr/>
          <p:nvPr/>
        </p:nvSpPr>
        <p:spPr>
          <a:xfrm>
            <a:off x="2880360" y="4023360"/>
            <a:ext cx="128016" cy="128016"/>
          </a:xfrm>
          <a:prstGeom prst="ellipse">
            <a:avLst/>
          </a:prstGeom>
          <a:solidFill>
            <a:srgbClr val="D6B56F"/>
          </a:solidFill>
          <a:ln w="12700">
            <a:solidFill>
              <a:srgbClr val="D6B56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090672" y="3959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CSV export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2907792" y="4270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directory download</a:t>
            </a:r>
            <a:endParaRPr lang="en-US" sz="1200" dirty="0"/>
          </a:p>
        </p:txBody>
      </p:sp>
      <p:sp>
        <p:nvSpPr>
          <p:cNvPr id="32" name="Data path card"/>
          <p:cNvSpPr/>
          <p:nvPr/>
        </p:nvSpPr>
        <p:spPr>
          <a:xfrm>
            <a:off x="457200" y="2560320"/>
            <a:ext cx="1828800" cy="2148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4360" y="2651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path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594360" y="2971800"/>
            <a:ext cx="1600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fills IndexedDB on first launch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call services</a:t>
            </a:r>
            <a:endParaRPr lang="en-US" sz="1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read, write and search</a:t>
            </a:r>
            <a:endParaRPr lang="en-US" sz="1200" dirty="0"/>
          </a:p>
        </p:txBody>
      </p:sp>
      <p:sp>
        <p:nvSpPr>
          <p:cNvPr id="35" name="Arrow user-ui"/>
          <p:cNvSpPr/>
          <p:nvPr/>
        </p:nvSpPr>
        <p:spPr>
          <a:xfrm>
            <a:off x="2286000" y="1645920"/>
            <a:ext cx="457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6" name="Arrow ui-services"/>
          <p:cNvSpPr/>
          <p:nvPr/>
        </p:nvSpPr>
        <p:spPr>
          <a:xfrm>
            <a:off x="5394960" y="1645920"/>
            <a:ext cx="457200" cy="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7" name="Arrow services-algos"/>
          <p:cNvSpPr/>
          <p:nvPr/>
        </p:nvSpPr>
        <p:spPr>
          <a:xfrm flipH="1">
            <a:off x="5394960" y="2148840"/>
            <a:ext cx="457200" cy="41148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8" name="Arrow services-idb"/>
          <p:cNvSpPr/>
          <p:nvPr/>
        </p:nvSpPr>
        <p:spPr>
          <a:xfrm>
            <a:off x="7269480" y="2148840"/>
            <a:ext cx="0" cy="41148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39" name="Arrow seed-idb"/>
          <p:cNvSpPr/>
          <p:nvPr/>
        </p:nvSpPr>
        <p:spPr>
          <a:xfrm flipV="1">
            <a:off x="7269480" y="3566160"/>
            <a:ext cx="0" cy="32004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40" name="Arrow idb-export"/>
          <p:cNvSpPr/>
          <p:nvPr/>
        </p:nvSpPr>
        <p:spPr>
          <a:xfrm flipH="1">
            <a:off x="5394960" y="3291840"/>
            <a:ext cx="457200" cy="594360"/>
          </a:xfrm>
          <a:prstGeom prst="line">
            <a:avLst/>
          </a:prstGeom>
          <a:noFill/>
          <a:ln w="19050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Technologies</a:t>
            </a:r>
            <a:endParaRPr lang="en-US" sz="3400" dirty="0"/>
          </a:p>
        </p:txBody>
      </p:sp>
      <p:graphicFrame>
        <p:nvGraphicFramePr>
          <p:cNvPr id="8" name="Technolog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 (ES6+) with JSX; supplementary Java demo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library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tool / dev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storage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IndexedDB (stores: patients, events)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formats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seed and import/export; CSV directory export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built-in test runner (node --test)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20+, npm, VS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Persistence</a:t>
            </a:r>
            <a:endParaRPr lang="en-US" sz="3400" dirty="0"/>
          </a:p>
        </p:txBody>
      </p:sp>
      <p:sp>
        <p:nvSpPr>
          <p:cNvPr id="4" name="Chart card"/>
          <p:cNvSpPr/>
          <p:nvPr/>
        </p:nvSpPr>
        <p:spPr>
          <a:xfrm>
            <a:off x="457200" y="1143000"/>
            <a:ext cx="5212080" cy="36118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548640" y="1188720"/>
          <a:ext cx="5029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Dataset stat 1"/>
          <p:cNvSpPr/>
          <p:nvPr/>
        </p:nvSpPr>
        <p:spPr>
          <a:xfrm>
            <a:off x="5852160" y="1143000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89320" y="11887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6903720" y="1188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(P0001–P0150)</a:t>
            </a:r>
            <a:endParaRPr lang="en-US" sz="1200" dirty="0"/>
          </a:p>
        </p:txBody>
      </p:sp>
      <p:sp>
        <p:nvSpPr>
          <p:cNvPr id="9" name="Dataset stat 2"/>
          <p:cNvSpPr/>
          <p:nvPr/>
        </p:nvSpPr>
        <p:spPr>
          <a:xfrm>
            <a:off x="5852160" y="2048256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989320" y="2093976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2093976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admitted</a:t>
            </a:r>
            <a:endParaRPr lang="en-US" sz="1200" dirty="0"/>
          </a:p>
        </p:txBody>
      </p:sp>
      <p:sp>
        <p:nvSpPr>
          <p:cNvPr id="12" name="Dataset stat 3"/>
          <p:cNvSpPr/>
          <p:nvPr/>
        </p:nvSpPr>
        <p:spPr>
          <a:xfrm>
            <a:off x="5852160" y="2953512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989320" y="2999232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6903720" y="2999232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5" name="Dataset stat 4"/>
          <p:cNvSpPr/>
          <p:nvPr/>
        </p:nvSpPr>
        <p:spPr>
          <a:xfrm>
            <a:off x="5852160" y="3858768"/>
            <a:ext cx="28346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989320" y="3904488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6903720" y="3904488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lab reports, appointments and history notes (150 each)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Pipeline</a:t>
            </a:r>
            <a:endParaRPr lang="en-US" sz="3400" dirty="0"/>
          </a:p>
        </p:txBody>
      </p:sp>
      <p:sp>
        <p:nvSpPr>
          <p:cNvPr id="4" name="Pipeline card 1"/>
          <p:cNvSpPr/>
          <p:nvPr/>
        </p:nvSpPr>
        <p:spPr>
          <a:xfrm>
            <a:off x="457200" y="118872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Pipeline number 1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lookup, O(1) average</a:t>
            </a:r>
            <a:endParaRPr lang="en-US" sz="1200" dirty="0"/>
          </a:p>
        </p:txBody>
      </p:sp>
      <p:sp>
        <p:nvSpPr>
          <p:cNvPr id="9" name="Example box 1"/>
          <p:cNvSpPr/>
          <p:nvPr/>
        </p:nvSpPr>
        <p:spPr>
          <a:xfrm>
            <a:off x="548640" y="3200400"/>
            <a:ext cx="137160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3200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P0001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match</a:t>
            </a:r>
            <a:endParaRPr lang="en-US" sz="1300" dirty="0"/>
          </a:p>
        </p:txBody>
      </p:sp>
      <p:sp>
        <p:nvSpPr>
          <p:cNvPr id="11" name="Pipeline card 2"/>
          <p:cNvSpPr/>
          <p:nvPr/>
        </p:nvSpPr>
        <p:spPr>
          <a:xfrm>
            <a:off x="2103120" y="118872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Pipeline number 2"/>
          <p:cNvSpPr/>
          <p:nvPr/>
        </p:nvSpPr>
        <p:spPr>
          <a:xfrm>
            <a:off x="224028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402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224028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name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24028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Case-insensitive equality</a:t>
            </a:r>
            <a:endParaRPr lang="en-US" sz="1200" dirty="0"/>
          </a:p>
        </p:txBody>
      </p:sp>
      <p:sp>
        <p:nvSpPr>
          <p:cNvPr id="16" name="Example box 2"/>
          <p:cNvSpPr/>
          <p:nvPr/>
        </p:nvSpPr>
        <p:spPr>
          <a:xfrm>
            <a:off x="2194560" y="3200400"/>
            <a:ext cx="137160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67712" y="3200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Patel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exact match</a:t>
            </a:r>
            <a:endParaRPr lang="en-US" sz="1300" dirty="0"/>
          </a:p>
        </p:txBody>
      </p:sp>
      <p:sp>
        <p:nvSpPr>
          <p:cNvPr id="18" name="Pipeline card 3"/>
          <p:cNvSpPr/>
          <p:nvPr/>
        </p:nvSpPr>
        <p:spPr>
          <a:xfrm>
            <a:off x="3749040" y="118872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Pipeline number 3"/>
          <p:cNvSpPr/>
          <p:nvPr/>
        </p:nvSpPr>
        <p:spPr>
          <a:xfrm>
            <a:off x="3886200" y="132588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8862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388620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match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88620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found in the name (substring / KMP)</a:t>
            </a:r>
            <a:endParaRPr lang="en-US" sz="1200" dirty="0"/>
          </a:p>
        </p:txBody>
      </p:sp>
      <p:sp>
        <p:nvSpPr>
          <p:cNvPr id="23" name="Example box 3"/>
          <p:cNvSpPr/>
          <p:nvPr/>
        </p:nvSpPr>
        <p:spPr>
          <a:xfrm>
            <a:off x="3840480" y="3200400"/>
            <a:ext cx="137160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913632" y="3200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name matches</a:t>
            </a:r>
            <a:endParaRPr lang="en-US" sz="1300" dirty="0"/>
          </a:p>
        </p:txBody>
      </p:sp>
      <p:sp>
        <p:nvSpPr>
          <p:cNvPr id="25" name="Pipeline card 4"/>
          <p:cNvSpPr/>
          <p:nvPr/>
        </p:nvSpPr>
        <p:spPr>
          <a:xfrm>
            <a:off x="5394960" y="118872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6" name="Pipeline number 4"/>
          <p:cNvSpPr/>
          <p:nvPr/>
        </p:nvSpPr>
        <p:spPr>
          <a:xfrm>
            <a:off x="5532120" y="1325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321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53212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53212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found anywhere in the record</a:t>
            </a:r>
            <a:endParaRPr lang="en-US" sz="1200" dirty="0"/>
          </a:p>
        </p:txBody>
      </p:sp>
      <p:sp>
        <p:nvSpPr>
          <p:cNvPr id="30" name="Example box 4"/>
          <p:cNvSpPr/>
          <p:nvPr/>
        </p:nvSpPr>
        <p:spPr>
          <a:xfrm>
            <a:off x="5486400" y="3200400"/>
            <a:ext cx="137160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559552" y="3200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partial matches</a:t>
            </a:r>
            <a:endParaRPr lang="en-US" sz="1300" dirty="0"/>
          </a:p>
        </p:txBody>
      </p:sp>
      <p:sp>
        <p:nvSpPr>
          <p:cNvPr id="32" name="Pipeline card 5"/>
          <p:cNvSpPr/>
          <p:nvPr/>
        </p:nvSpPr>
        <p:spPr>
          <a:xfrm>
            <a:off x="7040880" y="1188720"/>
            <a:ext cx="1554480" cy="29260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3" name="Pipeline number 5"/>
          <p:cNvSpPr/>
          <p:nvPr/>
        </p:nvSpPr>
        <p:spPr>
          <a:xfrm>
            <a:off x="7178040" y="132588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78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178040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17804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≤ max(1, ⌊0.2·len⌋), name only</a:t>
            </a:r>
            <a:endParaRPr lang="en-US" sz="1200" dirty="0"/>
          </a:p>
        </p:txBody>
      </p:sp>
      <p:sp>
        <p:nvSpPr>
          <p:cNvPr id="37" name="Example box 5"/>
          <p:cNvSpPr/>
          <p:nvPr/>
        </p:nvSpPr>
        <p:spPr>
          <a:xfrm>
            <a:off x="7132320" y="3200400"/>
            <a:ext cx="1371600" cy="82296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205472" y="3200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Patl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Kavya Patel (d = 1)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stops at the first stage that returns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Concepts Used</a:t>
            </a:r>
            <a:endParaRPr lang="en-US" sz="3400" dirty="0"/>
          </a:p>
        </p:txBody>
      </p:sp>
      <p:sp>
        <p:nvSpPr>
          <p:cNvPr id="4" name="Concept card 1"/>
          <p:cNvSpPr/>
          <p:nvPr/>
        </p:nvSpPr>
        <p:spPr>
          <a:xfrm>
            <a:off x="45720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6916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(Map)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exact patient-ID index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name and ID autocomplete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Jaccard sets, de-duplication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(adjacency list)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patient–symptom BFS / DFS</a:t>
            </a:r>
            <a:endParaRPr lang="en-US" sz="1200" dirty="0"/>
          </a:p>
        </p:txBody>
      </p:sp>
      <p:sp>
        <p:nvSpPr>
          <p:cNvPr id="7" name="Concept card 2"/>
          <p:cNvSpPr/>
          <p:nvPr/>
        </p:nvSpPr>
        <p:spPr>
          <a:xfrm>
            <a:off x="324612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matching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6916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baseline scan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LPS table; used in search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algorithm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prefix-match positions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Rabin–Karp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rolling hash + verify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Boyer–Moore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bad-character shift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Aho–Corasick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multi-pattern matching</a:t>
            </a:r>
            <a:endParaRPr lang="en-US" sz="1200" dirty="0"/>
          </a:p>
        </p:txBody>
      </p:sp>
      <p:sp>
        <p:nvSpPr>
          <p:cNvPr id="10" name="Concept card 3"/>
          <p:cNvSpPr/>
          <p:nvPr/>
        </p:nvSpPr>
        <p:spPr>
          <a:xfrm>
            <a:off x="6035040" y="1143000"/>
            <a:ext cx="2651760" cy="292608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 and similarity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69164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Levenshtein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approximate name match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Needleman–Wunsch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global alignment score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similar symptom sets</a:t>
            </a:r>
            <a:endParaRPr lang="en-US" sz="1200" dirty="0"/>
          </a:p>
        </p:txBody>
      </p:sp>
      <p:sp>
        <p:nvSpPr>
          <p:cNvPr id="13" name="Wiring note card"/>
          <p:cNvSpPr/>
          <p:nvPr/>
        </p:nvSpPr>
        <p:spPr>
          <a:xfrm>
            <a:off x="457200" y="4206240"/>
            <a:ext cx="818388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UI: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HashMap, Trie, KMP, Levenshtein, Jaccard, and the Algorithm Lab (Naive, KMP, Z, Rabin–Karp, NW).  </a:t>
            </a:r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only: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Boyer–Moore, Aho–Corasick, BFS / DFS.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and Space Complexity</a:t>
            </a:r>
            <a:endParaRPr lang="en-US" sz="3400" dirty="0"/>
          </a:p>
        </p:txBody>
      </p:sp>
      <p:graphicFrame>
        <p:nvGraphicFramePr>
          <p:cNvPr id="12" name="Complex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474720"/>
                <a:gridCol w="1737360"/>
              </a:tblGrid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 index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average lookup; O(N)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O(n·m)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Rabin–Karp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 expected; O(n·m)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extra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Boyer–Moore (bad character)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O(n/m) best; O(n·m)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O(σ)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Aho–Corasick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Σ|P| + 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O(Σ|P|)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Levenshtein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O(m·n)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O(m·n)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Needleman–Wunsch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O(m·n)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O(m·n)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Jaccard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O(|A| + |B|)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O(|A| + |B|)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/ 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3D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400" dirty="0"/>
          </a:p>
        </p:txBody>
      </p:sp>
      <p:sp>
        <p:nvSpPr>
          <p:cNvPr id="4" name="Test summary card"/>
          <p:cNvSpPr/>
          <p:nvPr/>
        </p:nvSpPr>
        <p:spPr>
          <a:xfrm>
            <a:off x="457200" y="1188720"/>
            <a:ext cx="2926080" cy="3520440"/>
          </a:xfrm>
          <a:prstGeom prst="roundRect">
            <a:avLst>
              <a:gd name="adj" fmla="val 25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 using the Node.js test runner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over 150 records takes about 2 ms for a full-text query in Node.js (measured in the build sandbox).</a:t>
            </a:r>
            <a:endParaRPr lang="en-US" sz="1400" dirty="0"/>
          </a:p>
        </p:txBody>
      </p:sp>
      <p:sp>
        <p:nvSpPr>
          <p:cNvPr id="8" name="Verified card"/>
          <p:cNvSpPr/>
          <p:nvPr/>
        </p:nvSpPr>
        <p:spPr>
          <a:xfrm>
            <a:off x="3566160" y="1188720"/>
            <a:ext cx="2468880" cy="352044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49040" y="1298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69164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unique IDs, P0001–P0150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Naive, KMP, Z, Rabin–Karp, Boyer–Moore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LPS table, edit distance, Jaccard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Trie, Aho–Corasick, Needleman–Wunsch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/ DFS and HashMap index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partial, approximate, multi-term search</a:t>
            </a:r>
            <a:endParaRPr lang="en-US" sz="1300" dirty="0"/>
          </a:p>
        </p:txBody>
      </p:sp>
      <p:sp>
        <p:nvSpPr>
          <p:cNvPr id="11" name="Pending card"/>
          <p:cNvSpPr/>
          <p:nvPr/>
        </p:nvSpPr>
        <p:spPr>
          <a:xfrm>
            <a:off x="6217920" y="1188720"/>
            <a:ext cx="2468880" cy="3520440"/>
          </a:xfrm>
          <a:prstGeom prst="roundRect">
            <a:avLst>
              <a:gd name="adj" fmla="val 296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0" y="12984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locally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1691640"/>
            <a:ext cx="2148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and npm run build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walkthrough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persistence after refresh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downloads and import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400" dirty="0"/>
          </a:p>
        </p:txBody>
      </p:sp>
      <p:sp>
        <p:nvSpPr>
          <p:cNvPr id="4" name="Limitations card"/>
          <p:cNvSpPr/>
          <p:nvPr/>
        </p:nvSpPr>
        <p:spPr>
          <a:xfrm>
            <a:off x="457200" y="118872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Limitations circle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Limitations icon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45389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325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1920240"/>
            <a:ext cx="3611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only: no backend, shared database or real authentication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local to one browser and fictional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scans all records; no inverted index yet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Aho–Corasick and BFS / DFS are modules, not yet wired into pages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build and UI still to be verified locally</a:t>
            </a:r>
            <a:endParaRPr lang="en-US" sz="1400" dirty="0"/>
          </a:p>
        </p:txBody>
      </p:sp>
      <p:sp>
        <p:nvSpPr>
          <p:cNvPr id="9" name="Future card"/>
          <p:cNvSpPr/>
          <p:nvPr/>
        </p:nvSpPr>
        <p:spPr>
          <a:xfrm>
            <a:off x="4617720" y="1188720"/>
            <a:ext cx="406908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Future circle"/>
          <p:cNvSpPr/>
          <p:nvPr/>
        </p:nvSpPr>
        <p:spPr>
          <a:xfrm>
            <a:off x="4800600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Future icon" descr="Fu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145389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394960" y="1325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4800600" y="1920240"/>
            <a:ext cx="3703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role-based access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database and REST API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and BK-tree for large datasets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Multi-keyword search with Aho–Corasick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 and Damerau–Levenshtein matching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UI tests and encryption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and Conclusion</a:t>
            </a:r>
            <a:endParaRPr lang="en-US" sz="3400" dirty="0"/>
          </a:p>
        </p:txBody>
      </p:sp>
      <p:sp>
        <p:nvSpPr>
          <p:cNvPr id="4" name="Benefit card 1"/>
          <p:cNvSpPr/>
          <p:nvPr/>
        </p:nvSpPr>
        <p:spPr>
          <a:xfrm>
            <a:off x="457200" y="1188720"/>
            <a:ext cx="196596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5" name="Benefit icon 1 circl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Benefit icon 1 icon" descr="Benef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466698"/>
            <a:ext cx="221285" cy="22128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lookup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2128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and name searches resolve in a single pass</a:t>
            </a:r>
            <a:endParaRPr lang="en-US" sz="1200" dirty="0"/>
          </a:p>
        </p:txBody>
      </p:sp>
      <p:sp>
        <p:nvSpPr>
          <p:cNvPr id="9" name="Benefit card 2"/>
          <p:cNvSpPr/>
          <p:nvPr/>
        </p:nvSpPr>
        <p:spPr>
          <a:xfrm>
            <a:off x="2542032" y="1188720"/>
            <a:ext cx="196596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Benefit icon 2 circle"/>
          <p:cNvSpPr/>
          <p:nvPr/>
        </p:nvSpPr>
        <p:spPr>
          <a:xfrm>
            <a:off x="2724912" y="13258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Benefit icon 2 icon" descr="Benef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730" y="1466698"/>
            <a:ext cx="221285" cy="22128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24912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tolerance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724912" y="22128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distance recovers misspelt names</a:t>
            </a:r>
            <a:endParaRPr lang="en-US" sz="1200" dirty="0"/>
          </a:p>
        </p:txBody>
      </p:sp>
      <p:sp>
        <p:nvSpPr>
          <p:cNvPr id="14" name="Benefit card 3"/>
          <p:cNvSpPr/>
          <p:nvPr/>
        </p:nvSpPr>
        <p:spPr>
          <a:xfrm>
            <a:off x="4626864" y="1188720"/>
            <a:ext cx="196596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5" name="Benefit icon 3 circle"/>
          <p:cNvSpPr/>
          <p:nvPr/>
        </p:nvSpPr>
        <p:spPr>
          <a:xfrm>
            <a:off x="4809744" y="132588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Benefit icon 3 icon" descr="Benef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562" y="1466698"/>
            <a:ext cx="221285" cy="22128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809744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comparison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4809744" y="22128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ranks patients with similar symptoms</a:t>
            </a:r>
            <a:endParaRPr lang="en-US" sz="1200" dirty="0"/>
          </a:p>
        </p:txBody>
      </p:sp>
      <p:sp>
        <p:nvSpPr>
          <p:cNvPr id="19" name="Benefit card 4"/>
          <p:cNvSpPr/>
          <p:nvPr/>
        </p:nvSpPr>
        <p:spPr>
          <a:xfrm>
            <a:off x="6711696" y="1188720"/>
            <a:ext cx="1965960" cy="1874520"/>
          </a:xfrm>
          <a:prstGeom prst="roundRect">
            <a:avLst>
              <a:gd name="adj" fmla="val 3902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0" name="Benefit icon 4 circle"/>
          <p:cNvSpPr/>
          <p:nvPr/>
        </p:nvSpPr>
        <p:spPr>
          <a:xfrm>
            <a:off x="6894576" y="132588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Benefit icon 4 icon" descr="Benefi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394" y="1466698"/>
            <a:ext cx="221285" cy="2212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894576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6894576" y="221284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Searches, views and edits are logged</a:t>
            </a:r>
            <a:endParaRPr lang="en-US" sz="1200" dirty="0"/>
          </a:p>
        </p:txBody>
      </p:sp>
      <p:sp>
        <p:nvSpPr>
          <p:cNvPr id="24" name="Conclusion card"/>
          <p:cNvSpPr/>
          <p:nvPr/>
        </p:nvSpPr>
        <p:spPr>
          <a:xfrm>
            <a:off x="457200" y="3246120"/>
            <a:ext cx="822960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85800" y="32918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shows how classical string, dynamic-programming and similarity algorithms can drive a practical retrieval interface. It is a frontend-only academic demonstration on fictional data, and the next step is secure shared storage and larger-scale indexing.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osing ring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Closing plus vertical"/>
          <p:cNvSpPr/>
          <p:nvPr/>
        </p:nvSpPr>
        <p:spPr>
          <a:xfrm>
            <a:off x="4389120" y="1234440"/>
            <a:ext cx="365760" cy="8229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losing plus horizontal"/>
          <p:cNvSpPr/>
          <p:nvPr/>
        </p:nvSpPr>
        <p:spPr>
          <a:xfrm>
            <a:off x="4160520" y="1463040"/>
            <a:ext cx="822960" cy="36576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880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are welcome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MediSearch uses fictional data only and is not for clinical use.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Search Dark">
  <a:themeElements>
    <a:clrScheme name="MediSearch Dark">
      <a:dk1>
        <a:srgbClr val="1B1D1F"/>
      </a:dk1>
      <a:lt1>
        <a:srgbClr val="E8E5DF"/>
      </a:lt1>
      <a:dk2>
        <a:srgbClr val="242629"/>
      </a:dk2>
      <a:lt2>
        <a:srgbClr val="A4A09A"/>
      </a:lt2>
      <a:accent1>
        <a:srgbClr val="D6B56F"/>
      </a:accent1>
      <a:accent2>
        <a:srgbClr val="75C9D3"/>
      </a:accent2>
      <a:accent3>
        <a:srgbClr val="B8A0E8"/>
      </a:accent3>
      <a:accent4>
        <a:srgbClr val="E79A91"/>
      </a:accent4>
      <a:accent5>
        <a:srgbClr val="8FB8F4"/>
      </a:accent5>
      <a:accent6>
        <a:srgbClr val="8FD3A8"/>
      </a:accent6>
      <a:hlink>
        <a:srgbClr val="75C9D3"/>
      </a:hlink>
      <a:folHlink>
        <a:srgbClr val="B8A0E8"/>
      </a:folHlink>
    </a:clrScheme>
    <a:fontScheme name="MediSearch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MediSearch – Intelligent Hospital Patient Information Retrieval System</dc:title>
  <dc:subject>PptxGenJS Presentation</dc:subject>
  <dc:creator>MediSearch Team</dc:creator>
  <cp:lastModifiedBy>MediSearch Team</cp:lastModifiedBy>
  <cp:revision>1</cp:revision>
  <dcterms:created xsi:type="dcterms:W3CDTF">2026-10-11T18:16:33Z</dcterms:created>
  <dcterms:modified xsi:type="dcterms:W3CDTF">2026-10-11T18:16:33Z</dcterms:modified>
</cp:coreProperties>
</file>